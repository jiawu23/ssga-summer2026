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2A4A"/>
                </a:solidFill>
              </a:defRPr>
            </a:pPr>
            <a:r>
              <a:t>Multi-Asset Meta-Labeling Pipeline</a:t>
            </a:r>
          </a:p>
          <a:p>
            <a:pPr>
              <a:spcBef>
                <a:spcPts val="1000"/>
              </a:spcBef>
              <a:defRPr sz="1800">
                <a:solidFill>
                  <a:srgbClr val="555B66"/>
                </a:solidFill>
              </a:defRPr>
            </a:pPr>
            <a:r>
              <a:t>Summer 2026 update · Jun 28 – Aug 8 · research &amp; educational use only</a:t>
            </a:r>
          </a:p>
          <a:p>
            <a:pPr>
              <a:spcBef>
                <a:spcPts val="800"/>
              </a:spcBef>
              <a:defRPr sz="1600" b="1">
                <a:solidFill>
                  <a:srgbClr val="1F6FB2"/>
                </a:solidFill>
              </a:defRPr>
            </a:pPr>
            <a:r>
              <a:t>August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Timeline — What We Did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Jun 28 – early Jul: simplify M1 (static factors), LR-only M2, macro→M2, index signals.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Jul: Joubert M3 formalization; factor/regime/M3 diagnostics; 6+ companion reports.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Jul–Aug research: walk-forward, M1 weight tuning, M3 threshold sweep, IR attribution, M2 enrichment.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Aug 8: index-first sleeve IDs (SP500, …); full validation; docs + deck alignment.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Explainability and stability gates matter as much as holdout Sharpe.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Pipeline Architecture (Joubert)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 — which side? Top-3 long index sleeves per week (rule-based).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 — P(trade succeeds)? Logistic regression, 52 features, calibrated.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M3 — how much to bet? ECDF sizing maps p_success → M3_size ∈ [0,1].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Portfolio — per-sleeve caps, gross exposure, 12% vol target, 5 bps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M2 ranks quality; M3 shapes risk — not a second classifier at T=0.55.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Index Universe (Aug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Sleeve ID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Asset class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Free data source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SP500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U.S.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^GSPC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true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MSCI_EAFE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Dev. ex-US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EFA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ETF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MSCI_EM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EM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EEM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ETF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UST_7_10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Govt bonds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IEF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ETF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US_HIGH_YIELD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HYG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ETF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GOLD_SPOT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GC=F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futures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US_REIT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Real estate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FRED REIT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true index · binds panel ~2011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334256"/>
            <a:ext cx="11091672" cy="86868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i="1">
                <a:solidFill>
                  <a:srgbClr val="1F6FB2"/>
                </a:solidFill>
              </a:defRPr>
            </a:pPr>
            <a:r>
              <a:t>Note:  Signals on index/proxy series; sleeve IDs are research labels, not trade tickets.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OOS Results — Long-Only (Test 2021+)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Ann. Return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Equal Weight 1/7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7.81%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-22.3%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M1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8.92%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-20.2%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6FB2"/>
                          </a:solidFill>
                        </a:defRPr>
                      </a:pPr>
                      <a:r>
                        <a:t>M1+M2+M3 Binary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6FB2"/>
                          </a:solidFill>
                        </a:defRPr>
                      </a:pPr>
                      <a:r>
                        <a:t>8.67%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6FB2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6FB2"/>
                          </a:solidFill>
                        </a:defRPr>
                      </a:pPr>
                      <a:r>
                        <a:t>-14.4%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M1+M2+M3 ECDF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4.58%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2A4A"/>
                          </a:solidFill>
                        </a:defRPr>
                      </a:pPr>
                      <a: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291840"/>
            <a:ext cx="11091672" cy="86868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46704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i="1">
                <a:solidFill>
                  <a:srgbClr val="1F6FB2"/>
                </a:solidFill>
              </a:defRPr>
            </a:pPr>
            <a:r>
              <a:t>Note:  From latest index-sleeve pipeline run — see reports/final_report.md.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M1 — Factor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Weights: momentum 45%, trend 25%, macro 20%, risk penalty 10%.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Rank all 7 sleeves weekly; select top K=3 longs.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IC-proportional weight tuning looked better on holdout but failed walk-forward.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M1-only economics stable vs prior branch on comparable windows.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M1 selects opportunities; keep baseline 45/25/20/10.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M2 — Meta-Label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52 enriched features (M1 components, interactions, asset-class dummies).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Test AUC ~0.59 vs ~0.57 baseline (+0.02).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Trees / per-asset heads overfit — global LR retained.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m1_components_rich variant rejected on walk-forward (2/6 fold wins).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Modest ranking lift; main value is feeding M3 ECDF.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M3 — Bet Sizing &amp; Allocation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no_signal — M1 flat; m3_zero — candidate vetoed; m3_active — positive size.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Binary T=0.55 approves ~100% of candidates (degenerate vs M1-only).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ECDF production mode: mean M3_size ~0.53 on candidates; rarely exact zero.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M3_size is magnitude; direction from M1_signal (±1).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ECDF is the production risk-shaping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m3_zero — Long-Only vs Long/Short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Long-only: m3_zero = M1 wanted a long, M3 allocated zero.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Long/short: same rule for long OR short candidates.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ECDF long-only: ~0% m3_zero; binary/linear long/short: high rejection.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Distinct from no_signal (M1 never nominated the sleeve).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M3 veto is pre-portfolio-cap; not the same as M1=0.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Walk-Forward &amp; Research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6 expanding-window folds; ECDF edge positive in 4/6 vs M1-only.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Rejected: IC M1 weights, M3 threshold promotion, IR overlays, M2 enrichment.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IR vs Sharpe trade-off: ECDF under-invests vs equal-weight (~52% gross).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74 pytest tests + integration smoke on index sleeves.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Holdout wins require walk-forward confirmation before config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Open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Regime-conditioned M3 sizing (weak 2015–16 fold).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Promote M3 thresholds only with walk-forward gates.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Long/short sleeve still weak vs long-only.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Bloomberg true-index history for pre-2011 research.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Next high-value work: regime-aware M3, not more M2 features without stability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Research backtest on public index/proxy data.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Not investment advice; no live execution or capacity modeling.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See TERMINOLOGY.md and DATA_SOURCES_AND_ETL.md for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SSGA Summer 2026 · Meta-Labeling Pipeline · August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