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2A4A"/>
                </a:solidFill>
              </a:defRPr>
            </a:pPr>
            <a:r>
              <a:t>Multi-Asset Meta-Labeling Research Pipeline</a:t>
            </a:r>
          </a:p>
          <a:p>
            <a:pPr>
              <a:spcBef>
                <a:spcPts val="1000"/>
              </a:spcBef>
              <a:defRPr sz="1800">
                <a:solidFill>
                  <a:srgbClr val="555B66"/>
                </a:solidFill>
              </a:defRPr>
            </a:pPr>
            <a:r>
              <a:t>A weekly, seven-sleeve global allocation framework  ·  research &amp; educational use only</a:t>
            </a:r>
          </a:p>
          <a:p>
            <a:pPr>
              <a:spcBef>
                <a:spcPts val="600"/>
              </a:spcBef>
              <a:defRPr sz="1600" b="1">
                <a:solidFill>
                  <a:srgbClr val="1F6FB2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Objective &amp;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Allocate weekly across a diversified seven-sleeve global asset universe.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Split the two decisions a single model usually blurs: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M1 — direction: which assets to favour (simple, high recall)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M2 — conviction: is the view likely to pay, and how much to size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Meta-labeling design from systematic-PM literature (Lopez de Prado).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Principle: STATIC factors live in M1; DYNAMIC factors live in M2.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Two simple problems beat one hard one — M1 proposes, M2 filters and sizes.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Changes Since Last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 simplified to a single static factor (momentum + trend); macro &amp; risk moved out.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ML layer kept to logistic regression only.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Static factors → M1; dynamic factors (macro, volatility, regime) → M2.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Macro / regime datasets now feed M2 (not used by earlier work).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Added simple evaluations — mean difference, MAE, Brier, calibration MAPE.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Out-of-sample confirmation — train/test split + 4-week embargo + walk-forward.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Every change follows one rule: static -&gt; M1, dynamic -&gt; M2, keep each layer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 — static, linear directional model (momentum + trend only).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M2 — dynamic, regime-aware meta-label (logistic regression):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sees momentum, trend, macro, volatility separately + regime features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weights factors differently across regimes (factor-timing)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Portfolio — benchmark-relative active weights, vol targeting, position caps, 2-layer costs.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Discipline — no look-ahead, 4-week macro lag, 4-week train/test embargo.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M1 is simple on purpose; all dynamic / regime intelligence is isolated in M2.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The Universe — Seven Sleeves, Three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set_class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5930"/>
            <a:ext cx="68580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7 assets grouped into 3 classes: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Equity — SPY, VEA, VWO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Fixed Income — TLT, HYG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Alternatives — gold (GLD), REITs (VNQ)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Each class has a distinct risk-return profile: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Equity is most volatile (deepest 2008 drawdown)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Fixed Income is the smoothest sleeve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Alternatives compounded the most post-2008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Different behaviour across classes is exactly why dynamic allocation across them can add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M1 — Static Directional Model: worked 3-asset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12w mom (z)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trend (z)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Tilt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S&amp;P 500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+1.08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+0.99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+1.03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43.3%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mid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7-10Y Treasury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worst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2843784"/>
            <a:ext cx="11091672" cy="9144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98648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i="1">
                <a:solidFill>
                  <a:srgbClr val="1F6FB2"/>
                </a:solidFill>
              </a:defRPr>
            </a:pPr>
            <a:r>
              <a:t>What it means:  Score each factor, z-score across assets, rank, then tilt around the 1/7 benchmark. An underweight is an implicit short — no outright shorting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M1 in Action — Allocation Rotates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up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5930"/>
            <a:ext cx="68580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M1 is static, yet it still rotates allocation meaningfully week to week.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Dashed lines = equal-weight benchmark (Equity 42.9%, +FI 71.4%).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Equity swings well above and below its benchmark weight: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leans in when price trends are strong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backs off when they are not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All benchmark-relative — an underweight is a synthetic short, so we never short outright.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A simple static signal produces real, dynamic-looking allocation — no learning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What M1 Structurally Does — Average Tilts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set_active_t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0680"/>
            <a:ext cx="6857998" cy="3962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Average over/underweight vs the 1/N benchmark, per asset.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Most underweights Treasuries (TLT -3.0%).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Most overweights gold (+1.7%) and US equity (+0.8%).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This is the momentum/trend signal expressing itself: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gold trended up over the sample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long bonds trended down, especially 2022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Exactly the attribution SSGA cares about — we can name the P&amp;L drivers.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We can point to which asset bets drive returns, not just a black-box weight vector.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Why M1 Merges Momentum +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8755"/>
            <a:ext cx="6858000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Momentum and trend are collinear — they measure the same thing.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So we merge them into one 'technical' factor.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Merged beats either alone (Sharpe 0.67 vs 0.65 / 0.62).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Positive interaction (+0.01) — they reinforce, not cancel.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Keeping collinear factors separate would make attribution impossible.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Merging collinear factors is both cleaner for attribution and slightly better performing.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M2 — Dynamic Meta-Label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Target — did M1's benchmark-relative bet pay over the next 4 weeks?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Model — logistic regression (simple by design), refit on a rolling ~12-month window.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Features — momentum, trend, macro, volatility (each separate) + regime (VIX, curve, credit, growth, inflation).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Output — P(success), converted into a sizing multiplier on the M1 tilt.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Evaluated with multiple methods — F1, AUC-ROC, AUC-PR, calibration — not just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M2 is where 'which factor works in which regime' is meant to be learned.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Universe &amp;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Sleeve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Series used (free)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U.S.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S&amp;P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^GSPC (index)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Developed Intl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MSCI EAFE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EFA (ETF 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2001+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Emerging Mkts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MSCI 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EEM (ETF 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2003+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U.S. Treasury 7-10Y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S&amp;P UST 7-10Y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IEF (ETF 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2002+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High 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ICE BofA US 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HYG (ETF 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2007+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Gold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GC=F (futures)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U.S. REITs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Nasdaq US REIT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FRED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2011+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087368"/>
            <a:ext cx="11091672" cy="9144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42232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i="1">
                <a:solidFill>
                  <a:srgbClr val="1F6FB2"/>
                </a:solidFill>
              </a:defRPr>
            </a:pPr>
            <a:r>
              <a:t>What it means:  Free true-index history is short (HY index only 2023, MSCI EAFE/EM only 2012); we use the longest free series per sleeve. True long-history index needs Bloomberg.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Results — Strategy   (full sample 2000-2026; OOS from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Max DD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Sharpe (OOS)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Info Ratio (OOS)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Equal-Weight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Moderate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Institutional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M1-only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-22%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+0.18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M1 + 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-0.00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465576"/>
            <a:ext cx="11091672" cy="9144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i="1">
                <a:solidFill>
                  <a:srgbClr val="1F6FB2"/>
                </a:solidFill>
              </a:defRPr>
            </a:pPr>
            <a:r>
              <a:t>What it means:  M1 beats all baselines on risk-adjusted return and cuts drawdown the most (-22% vs -30%). Adding M2 makes every metric slightly worse.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Headline Result — Growth of $1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5930"/>
            <a:ext cx="68580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Equal-Weight vs M1 vs M1+M2 (log scale).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On a risk-adjusted basis M1 wins: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Sharpe 0.65 vs 0.62 for equal-weight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max drawdown -21.8% vs -29.9% — much shallower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Out-of-sample (2021+), M1 is the only strategy with a positive info ratio (+0.18).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Raw growth favours equal-weight, but SSGA's lens is risk-adjusted + benchmark-relative.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M1 adds value where it matters to SSGA: risk-adjusted, benchmark-relative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Results — Walk-Forward   (Sharpe by window)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Equal-Weight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M1-only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M1 + M2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2014-2016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2016-2018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2018-2020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B2A4A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2021-now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6FB2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154680"/>
            <a:ext cx="11091672" cy="9144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9544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i="1">
                <a:solidFill>
                  <a:srgbClr val="1F6FB2"/>
                </a:solidFill>
              </a:defRPr>
            </a:pPr>
            <a:r>
              <a:t>What it means:  M1's edge over equal-weight is concentrated in 2021+, not uniform. Full-sample numbers flatter M1 than the regime-by-regime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Robustness — Sharpe Across Regimes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k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5930"/>
            <a:ext cx="68580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We test four time windows, not one backtest, to check the edge isn't a fluke.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M1 is strongest in trending regimes ('21-now).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Weaker in choppy regimes ('18-'20) — consistent with a trend signal.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No window is catastrophic.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The edge is regime-dependent — which is precisely the problem M2 is meant to solve.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M1's edge is real but regime-concentrated; closing that gap is M2's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Key Finding — M2 Does Not Add Value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M2's probabilities carry no information — realized success is flat across every predicted bucket: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predicted 0.14 → realized 0.44   |   predicted 0.82 → realized 0.43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AUC-ROC = 0.50 full / 0.46 out-of-sample — i.e. random, slightly worse OOS.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Simple error metrics agree — Brier 0.31, calibration MAPE ≈ 0.49 (probabilities ~49% off).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M2 underperforms M1-only in every walk-forward window.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Held under both proxy and real macro data — robust, not a tuning artifact.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The meta-label as specified (per-asset, 4-week, benchmark-relative) extracts no conditional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The Evidence — M2 Calibration Is Flat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2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79" y="1371600"/>
            <a:ext cx="52273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716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Predicted P(success) vs realized success rate.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A flat line means the probabilities carry no information.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predicted 0.14 -&gt; realized 0.44</a:t>
            </a:r>
          </a:p>
          <a:p>
            <a:pPr lvl="1">
              <a:spcAft>
                <a:spcPts val="600"/>
              </a:spcAft>
              <a:defRPr sz="1200" b="0">
                <a:solidFill>
                  <a:srgbClr val="555B66"/>
                </a:solidFill>
              </a:defRPr>
            </a:pPr>
            <a:r>
              <a:t>–  predicted 0.82 -&gt; realized 0.43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AUC ~ 0.50 — essentially a coin flip.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Not a dead end — it is the open research question; the project's value is making M2 work.</a:t>
            </a:r>
          </a:p>
          <a:p>
            <a:pPr>
              <a:spcAft>
                <a:spcPts val="600"/>
              </a:spcAft>
              <a:defRPr sz="1400" b="1">
                <a:solidFill>
                  <a:srgbClr val="0B2A4A"/>
                </a:solidFill>
              </a:defRPr>
            </a:pPr>
            <a:r>
              <a:t>■  May be data-driven: free ETF proxies + short macro history, not Bloomberg index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7103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F6FB2"/>
                </a:solidFill>
              </a:defRPr>
            </a:pPr>
            <a:r>
              <a:t>Takeaway:  Honest status: M2 has no signal yet. Reformulating it is the core next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Attribution — Factors &amp;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 decomposed into its two sub-signals (full-sample Sharpe):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momentum 0.61  ·  trend 0.65  ·  combined technical 0.65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Interaction is positive (+0.015) — momentum and trend reinforce, not redundant.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Cost layers (annualized): gross 6.48% → net of expense 6.39% → net of all 6.19%.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transaction cost (~29 bps) is a larger drag than the expense ratio (~9 bps)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The directional value is real and complementary; costs are modest and turnover-driven.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Research-grade data (free index / ETF-proxy series); true long-history index needs Bloomberg.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Historical simulation only — no capacity, market impact, borrow, or live execution.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M1's edge is regime-concentrated (recent), not uniform across history.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M2 is not yet usable; its prediction target needs reformulation.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Some diagnostics are full-sample; production needs broader walk-forward / purged CV.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Solid on each step — we report what works and what does not, without overselling.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2A4A"/>
                </a:solidFill>
              </a:defRPr>
            </a:pPr>
            <a:r>
              <a:t>Questions for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M2 reformulation — which direction?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a regime gate (scale total active risk down in stress), or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555B66"/>
                </a:solidFill>
              </a:defRPr>
            </a:pPr>
            <a:r>
              <a:t>–  a factor-timer (momentum vs trend by regime), or a different target / horizon?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Is the 4-week, benchmark-relative success label the right thing to predict?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M1's edge is recent-regime concentrated — acceptable, or do we need cross-regime robustness?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Data — prioritize Bloomberg true-index history (pre-2012)? Which sleeves first?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Universe — stay at 7, or add IG credit + broad commodity (9)?</a:t>
            </a:r>
          </a:p>
          <a:p>
            <a:pPr>
              <a:spcAft>
                <a:spcPts val="500"/>
              </a:spcAft>
              <a:defRPr sz="1700" b="1">
                <a:solidFill>
                  <a:srgbClr val="0B2A4A"/>
                </a:solidFill>
              </a:defRPr>
            </a:pPr>
            <a:r>
              <a:t>■  Benchmark / tracking-error budget for the information-ratio framing?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F6FB2"/>
                </a:solidFill>
              </a:defRPr>
            </a:pPr>
            <a:r>
              <a:t>Takeaway:  We are solid on M1 and the framework; M2's design is the open research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Multi-Asset Meta-Labeling  ·  June 21,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B6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