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1" r:id="rId11"/>
    <p:sldId id="266" r:id="rId12"/>
    <p:sldId id="267" r:id="rId13"/>
    <p:sldId id="268" r:id="rId14"/>
    <p:sldId id="282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78136D-3031-4BD1-BF59-B5643D8CD422}">
  <a:tblStyle styleId="{7978136D-3031-4BD1-BF59-B5643D8CD4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DEB2E09-3B8A-4FED-916B-09BD8C56325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472C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472C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>
        <p:guide orient="horz" pos="1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5bcd95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65bcd955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f65bcd955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Straight from src/model_m1.py, four separate functions, one per component. Momentum: because part1 is itself an average of 3 z-scores, the individual 12/26/52-week terms each contribute roughly 1/9 of the final score, while rank and relative-momentum each contribute roughly 1/3 — not all five features count equally. Risk: same risk_off signal is a penalty for equities but a positive for gold/bonds, encoding flight-to-safety directly.</a:t>
            </a:r>
            <a:endParaRPr/>
          </a:p>
        </p:txBody>
      </p:sp>
      <p:sp>
        <p:nvSpPr>
          <p:cNvPr id="150" name="Google Shape;15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Bridge slide from Part 2. Keep this brief — the team has already seen the M2-&gt;M3 gating proof; this is just re-anchoring before the portfolio-construction material.</a:t>
            </a:r>
            <a:endParaRPr/>
          </a:p>
        </p:txBody>
      </p:sp>
      <p:sp>
        <p:nvSpPr>
          <p:cNvPr id="307" name="Google Shape;30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Pulled directly from src/portfolio.py::apply_vol_target_wide and config.yaml. Confirmed, not placeholder: vol_target_ann=0.12, vol_target_lookback_weeks=26, vol_target_max_scale=2.0.</a:t>
            </a:r>
            <a:endParaRPr/>
          </a:p>
        </p:txBody>
      </p:sp>
      <p:sp>
        <p:nvSpPr>
          <p:cNvPr id="325" name="Google Shape;32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Numbers verified against reports/final_report.md lines 311-314, test period 2021+. Say the caveat before anyone asks it: linear's return is much lower because it de-levers whenever p_success isn't much above 0.5.</a:t>
            </a:r>
            <a:endParaRPr/>
          </a:p>
        </p:txBody>
      </p:sp>
      <p:sp>
        <p:nvSpPr>
          <p:cNvPr id="343" name="Google Shape;34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your strongest section — concrete, real examples from this exact project, not a generic AI disclaimer. Say the 4/6-vs-1/6 example first; it's the most vivid and the most self-critical, which reads as credible rather than defensive.</a:t>
            </a:r>
            <a:endParaRPr/>
          </a:p>
        </p:txBody>
      </p:sp>
      <p:sp>
        <p:nvSpPr>
          <p:cNvPr id="357" name="Google Shape;35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3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META-LABELING FOR MULTI-ASSET ALLOCATION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Selection, filtering, and sizing — architecture, evidence, and open questions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SSGA Field Project Team  ·  Final Presentation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103120"/>
            <a:ext cx="100584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Four Parts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15544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554480" y="160020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Framing &amp; Architecture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554480" y="20116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Problem recap, pipeline flowchart, data layer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26974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554480" y="274320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M1 + M2: Selection &amp; Meta-Labeling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554480" y="31546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Scoring mechanics, weight rationale, M2 pipeline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38404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554480" y="388620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M3: Portfolio Layer &amp; AI Disclosure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554480" y="42976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Sizing, vol targeting, what was and wasn't delegated to AI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49834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554480" y="502920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Results, Limitations &amp; Roadmap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554480" y="54406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Full metric set, honest limitations, next steps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22960" y="292608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Framing &amp; Architecture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we're solving, how the pipeline is built, and where the data comes from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22960" y="2331720"/>
            <a:ext cx="100584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1 — FRAMING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Problem &amp; Objective Recap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563840" y="1828785"/>
            <a:ext cx="11064300" cy="118860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792440" y="1828785"/>
            <a:ext cx="106071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1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Can a secondary model improve a primary selector's risk-adjusted performance by filtering and sizing its trades </a:t>
            </a:r>
            <a:endParaRPr sz="1500" b="1" i="1" u="none" strike="noStrike" cap="non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1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— without ever generating a trade of its own?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63840" y="3291825"/>
            <a:ext cx="3538800" cy="237750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563840" y="3291825"/>
            <a:ext cx="3538800" cy="7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746720" y="3474705"/>
            <a:ext cx="3173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Framing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746720" y="3886185"/>
            <a:ext cx="31731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simulated State Street research-department scenario, following the meta-labeling framework from Joubert (2022).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326596" y="3291825"/>
            <a:ext cx="3538800" cy="237750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4326596" y="3291825"/>
            <a:ext cx="3538800" cy="7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4509476" y="3474705"/>
            <a:ext cx="3173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Universe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09476" y="3886185"/>
            <a:ext cx="31731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7 multi-asset index sleeves — equity, developed &amp; emerging intl., bonds, credit, gold, REITs — rebalanced weekly.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089352" y="3291825"/>
            <a:ext cx="3538800" cy="237750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8089352" y="3291825"/>
            <a:ext cx="3538800" cy="7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272232" y="3474705"/>
            <a:ext cx="3173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8272232" y="3886185"/>
            <a:ext cx="31731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Three deliberately separated layers: M1 selects, M2 scores, M3 sizes — each </a:t>
            </a: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probably</a:t>
            </a: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unable to act outside its role.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1 — ARCHITECTURE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Pipeline, Big Picture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40868" y="1828800"/>
            <a:ext cx="1965960" cy="13716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540883" y="1943098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31724" y="2377550"/>
            <a:ext cx="20751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Prices, FRED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macro, VIX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2506828" y="2240280"/>
            <a:ext cx="320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2826868" y="1828800"/>
            <a:ext cx="1965960" cy="1371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2918308" y="19659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918308" y="237744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Rule-based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792828" y="224028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112868" y="1828800"/>
            <a:ext cx="1965960" cy="1371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5204308" y="19659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204308" y="237744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probability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7078828" y="224028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7398868" y="1828800"/>
            <a:ext cx="1965960" cy="1371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7490308" y="19659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7490308" y="237744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sizing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9364828" y="224028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9684868" y="1828800"/>
            <a:ext cx="1965960" cy="1371600"/>
          </a:xfrm>
          <a:prstGeom prst="rect">
            <a:avLst/>
          </a:prstGeom>
          <a:solidFill>
            <a:srgbClr val="E8A33D"/>
          </a:solidFill>
          <a:ln w="12700" cap="flat" cmpd="sng">
            <a:solidFill>
              <a:srgbClr val="E8A3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9776308" y="19659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9776308" y="237744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Constraints +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 target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48640" y="3657600"/>
            <a:ext cx="11064240" cy="228600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777240" y="38404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one structural guarantee, provable in code — not just designed intention: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77240" y="42062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raw_weight = M1_signal × M3_size × conviction × base_budget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792450" y="4480657"/>
            <a:ext cx="1060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lang="en-US" sz="1050" b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Conviction sizing: disabled</a:t>
            </a:r>
            <a:r>
              <a:rPr lang="en-US" sz="10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. On testing, it lowered returns (6.05% vs. 7.32%) — so every M1-selected sleeve gets full base budget, with no scaling by signal strength.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92453" y="4892060"/>
            <a:ext cx="106071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M1_signal is 0 whenever M1 doesn't select a sleeve that week — forcing the product, and therefore the position, to zero regardless of what M2 or M3 computed. M2 never sees a row where M1 is flat (p_success is undefined there); M3 never sees anything but M2's single probability. Neither can originate a trade.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548640" y="13716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1 — DATA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48640" y="36576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Universe: ETF → Index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1277295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8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{7978136D-3031-4BD1-BF59-B5643D8CD422}</a:tableStyleId>
              </a:tblPr>
              <a:tblGrid>
                <a:gridCol w="134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7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Asset class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ETF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 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 in portfolio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starts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U.S. equity</a:t>
                      </a:r>
                      <a:endParaRPr sz="1100" u="none" strike="noStrike" cap="non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</a:t>
                      </a: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S&amp;P 500 Index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 U.S. equity benchmark, largest and most liquid market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2000-01-03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Developed Intl Equity</a:t>
                      </a:r>
                      <a:endParaRPr sz="1100" u="none" strike="noStrike" cap="non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MSCI EAFE Index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Developed markets outside U.S., growth and currency exposure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2001-08-27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Emerging Markets Equity</a:t>
                      </a:r>
                      <a:endParaRPr sz="1100" u="none" strike="noStrike" cap="non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VWO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MSCI Emerging Markets Index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Higher-growth, higher-volatility equity; EM liquidity and commodity sensitivity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2003-04-14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Govt bonds 7-10Y</a:t>
                      </a:r>
                      <a:endParaRPr sz="1100" u="none" strike="noStrike" cap="non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TLT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S&amp;P U.S. Treasury Bond 7-10yr Index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Interest-rate risk; flight-to-safety; inverse to equities in downturns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2002-07-30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yield credit</a:t>
                      </a:r>
                      <a:endParaRPr sz="1100" u="none" strike="noStrike" cap="non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HYG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ICE BofA U.S. High Yield OAS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 risk and default-fear sensitivity; spread series, not total return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2007-04-11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Gold</a:t>
                      </a:r>
                      <a:endParaRPr sz="1100" u="none" strike="noStrike" cap="non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</a:t>
                      </a: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Gold Spot Price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Real-asset and inflation hedge; low correlation to stocks and bonds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2000-08-30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U.S. real estate</a:t>
                      </a:r>
                      <a:endParaRPr sz="1100" u="none" strike="noStrike" cap="non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Nasdaq U.S. Benchmark REIT Index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estate exposure; rental income plus rate sensitivity</a:t>
                      </a:r>
                      <a:endParaRPr sz="1100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2011-05-31</a:t>
                      </a:r>
                      <a:endParaRPr sz="1100" b="1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6" name="Google Shape;116;p8"/>
          <p:cNvSpPr/>
          <p:nvPr/>
        </p:nvSpPr>
        <p:spPr>
          <a:xfrm>
            <a:off x="8634800" y="1886850"/>
            <a:ext cx="3289500" cy="17499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8834800" y="2016850"/>
            <a:ext cx="4200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BINDING CONSTRAINT</a:t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8834800" y="2336850"/>
            <a:ext cx="29634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latest start date sets the beginning of the full seven-sleeve panel: </a:t>
            </a:r>
            <a:r>
              <a:rPr lang="en-US" sz="12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U.S. Real Estate (REIT), May 2011.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Every date reflects free-source availability, not evidence the asset didn't exist earlier.</a:t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8634800" y="3786850"/>
            <a:ext cx="3289500" cy="1749900"/>
          </a:xfrm>
          <a:prstGeom prst="roundRect">
            <a:avLst>
              <a:gd name="adj" fmla="val 6000"/>
            </a:avLst>
          </a:prstGeom>
          <a:solidFill>
            <a:srgbClr val="EEF3FD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8834800" y="3896850"/>
            <a:ext cx="4200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“MISSING” MEANS HERE</a:t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8834800" y="4216850"/>
            <a:ext cx="2899800" cy="11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No gaps inside any series — once a sleeve starts, it's complete every week forward.</a:t>
            </a:r>
            <a:endParaRPr sz="1500"/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The only filled-in values are the monthly macro series — weekly price data needs no filling.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/>
        </p:nvSpPr>
        <p:spPr>
          <a:xfrm>
            <a:off x="548640" y="137160"/>
            <a:ext cx="9144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1 — DATA LAYER</a:t>
            </a:r>
            <a:endParaRPr/>
          </a:p>
        </p:txBody>
      </p:sp>
      <p:sp>
        <p:nvSpPr>
          <p:cNvPr id="128" name="Google Shape;128;p9"/>
          <p:cNvSpPr txBox="1"/>
          <p:nvPr/>
        </p:nvSpPr>
        <p:spPr>
          <a:xfrm>
            <a:off x="548640" y="365760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From Raw Releases to a Weekly Grid</a:t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548640" y="1372225"/>
            <a:ext cx="11064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Price data is already daily. Macro data is released monthly. Here's how each becomes weekly — and how we avoid look-ahead.</a:t>
            </a:r>
            <a:endParaRPr/>
          </a:p>
        </p:txBody>
      </p:sp>
      <p:graphicFrame>
        <p:nvGraphicFramePr>
          <p:cNvPr id="130" name="Google Shape;130;p9"/>
          <p:cNvGraphicFramePr/>
          <p:nvPr/>
        </p:nvGraphicFramePr>
        <p:xfrm>
          <a:off x="548640" y="18122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{3DEB2E09-3B8A-4FED-916B-09BD8C563258}</a:tableStyleId>
              </a:tblPr>
              <a:tblGrid>
                <a:gridCol w="171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Series group</a:t>
                      </a:r>
                      <a:endParaRPr/>
                    </a:p>
                  </a:txBody>
                  <a:tcPr marL="90000" marR="90000" marT="45000" marB="450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 at source</a:t>
                      </a:r>
                      <a:endParaRPr/>
                    </a:p>
                  </a:txBody>
                  <a:tcPr marL="90000" marR="90000" marT="45000" marB="450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it becomes weekly</a:t>
                      </a:r>
                      <a:endParaRPr/>
                    </a:p>
                  </a:txBody>
                  <a:tcPr marL="90000" marR="90000" marT="45000" marB="450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CPI, unemployment, industrial production,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Fed funds (FRED)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Held flat until next release, then lagged an extra 4 weeks before the model can see it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10Y yield, yield curve, credit spread (FRED)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Already daily — aligned to Friday, no extra lag needed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VIX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(pre-calculated, sourced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Yahoo Finance)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Aligned to Friday — same treatment as prices, not the monthly-macro treatment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Prices — 7 sleeves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Friday close taken each week</a:t>
                      </a:r>
                      <a:endParaRPr/>
                    </a:p>
                  </a:txBody>
                  <a:tcPr marL="90000" marR="90000" marT="40000" marB="400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1" name="Google Shape;131;p9"/>
          <p:cNvSpPr/>
          <p:nvPr/>
        </p:nvSpPr>
        <p:spPr>
          <a:xfrm>
            <a:off x="7744725" y="1819250"/>
            <a:ext cx="3420000" cy="158580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7901097" y="2002063"/>
            <a:ext cx="258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Non-traded information sets complement the price data: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7865550" y="2322163"/>
            <a:ext cx="31518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MACRO: 7 FRED series (CPI, unemployment, industrial production, Fed funds, 10Y yield, yield curve, credit spread) + VIX </a:t>
            </a:r>
            <a:endParaRPr sz="115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548650" y="4118175"/>
            <a:ext cx="92910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VIX is not treated as a lagged macro input — it's already public, real-time market data, so it follows the price-data path instead.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48650" y="4810125"/>
            <a:ext cx="10616100" cy="7869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 cap="flat" cmpd="sng">
            <a:solidFill>
              <a:srgbClr val="E8A3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730000" y="4910125"/>
            <a:ext cx="10800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WHY THE 4-WEEK LAG</a:t>
            </a:r>
            <a:endParaRPr/>
          </a:p>
        </p:txBody>
      </p:sp>
      <p:sp>
        <p:nvSpPr>
          <p:cNvPr id="137" name="Google Shape;137;p9"/>
          <p:cNvSpPr txBox="1"/>
          <p:nvPr/>
        </p:nvSpPr>
        <p:spPr>
          <a:xfrm>
            <a:off x="729990" y="5174725"/>
            <a:ext cx="111849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CPI report isn't published the day it's measured. Holding monthly macro data back 4 weeks to avoid </a:t>
            </a:r>
            <a:r>
              <a:rPr lang="en-US" sz="1150" i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look-ahead.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i="1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822960" y="292608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M1 + M2: Selection &amp; Meta-Labeling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Scoring mechanics, the experiment-driven weight rationale, and M2's actual computation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822960" y="2331720"/>
            <a:ext cx="100584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M1 — RULE-BASED SELECTOR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Four Components, Four Exact Formulas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548640" y="1234440"/>
            <a:ext cx="11064240" cy="192024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548640" y="1234440"/>
            <a:ext cx="1106424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777240" y="14173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Momentum (45%) — three sub-parts, not five features averaged equally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777240" y="1783080"/>
            <a:ext cx="106070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part1 = mean(z_mom_12w, z_mom_26w, z_mom_52w)   — relative momentum strength, 3 horizons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part2 = rank_mom_12w − 0.5                       — cross-sectional rank, centered at 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part3 = rel_mom_12w                              — outperformance vs. equal-weight basket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momentum_score = (part1 + part2 + part3) /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548640" y="3337560"/>
            <a:ext cx="3538728" cy="233172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548640" y="3337560"/>
            <a:ext cx="3538728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"/>
          <p:cNvSpPr/>
          <p:nvPr/>
        </p:nvSpPr>
        <p:spPr>
          <a:xfrm>
            <a:off x="731520" y="3520440"/>
            <a:ext cx="31729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Trend (25%)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731520" y="3931920"/>
            <a:ext cx="31729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trend_score = z_trend_signal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86470" y="4846440"/>
            <a:ext cx="31731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MA10 vs. MA40 crossover, then z-scored cross-sectionally. Simplest component — no combination at all. The 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ask if the recent price level stronger or weaker than the broader 40-period baseline? Later we standardize across assets so that the final score is relative and not absolute.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4311396" y="3337560"/>
            <a:ext cx="3538728" cy="233172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4311396" y="3337560"/>
            <a:ext cx="3538728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4494276" y="3520440"/>
            <a:ext cx="31729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Risk Penalty (10%)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494213" y="3657632"/>
            <a:ext cx="31731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E8A33D"/>
                </a:solidFill>
                <a:latin typeface="Courier New"/>
                <a:ea typeface="Courier New"/>
                <a:cs typeface="Courier New"/>
                <a:sym typeface="Courier New"/>
              </a:rPr>
              <a:t>vol = z_vol_12w</a:t>
            </a:r>
            <a:endParaRPr sz="1050" b="0" i="0" u="none" strike="noStrike" cap="none">
              <a:solidFill>
                <a:srgbClr val="E8A3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E8A33D"/>
                </a:solidFill>
                <a:latin typeface="Courier New"/>
                <a:ea typeface="Courier New"/>
                <a:cs typeface="Courier New"/>
                <a:sym typeface="Courier New"/>
              </a:rPr>
              <a:t>dd_penalty = max(0,−drawdown_26w)</a:t>
            </a:r>
            <a:endParaRPr sz="1050" b="0" i="0" u="none" strike="noStrike" cap="none">
              <a:solidFill>
                <a:srgbClr val="E8A3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E8A33D"/>
                </a:solidFill>
                <a:latin typeface="Courier New"/>
                <a:ea typeface="Courier New"/>
                <a:cs typeface="Courier New"/>
                <a:sym typeface="Courier New"/>
              </a:rPr>
              <a:t>  + max(0, z_drawdown_26w)</a:t>
            </a:r>
            <a:endParaRPr sz="1050" b="0" i="0" u="none" strike="noStrike" cap="none">
              <a:solidFill>
                <a:srgbClr val="E8A3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E8A33D"/>
                </a:solidFill>
                <a:latin typeface="Courier New"/>
                <a:ea typeface="Courier New"/>
                <a:cs typeface="Courier New"/>
                <a:sym typeface="Courier New"/>
              </a:rPr>
              <a:t>risk_penalty = vol + dd_penalty</a:t>
            </a:r>
            <a:endParaRPr sz="1050" b="0" i="0" u="none" strike="noStrike" cap="none">
              <a:solidFill>
                <a:srgbClr val="E8A3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494213" y="4956052"/>
            <a:ext cx="3173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risk penalty is trying to give a higher score to riskier / more damaged assets so we so can subtract it from an alpha signal or use it to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downweight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positions. That first term penalizes the absolute size of the drawdown. The second penalizes assets whose drawdown score is high relative to the cross-section. Final risk penalty penalize assets that are recently volatile, far below their 26-week highs, or in worse drawdowns than peers. </a:t>
            </a:r>
            <a:endParaRPr sz="8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8074152" y="3337560"/>
            <a:ext cx="3538728" cy="233172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8074152" y="3337560"/>
            <a:ext cx="3538728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8257032" y="3520440"/>
            <a:ext cx="31729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Macro (20%)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8257032" y="3931920"/>
            <a:ext cx="3172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equity: 0.35·growth_trend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− 0.35·risk_off − 0.15·inflation_up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8257032" y="5074920"/>
            <a:ext cx="317296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component that depends on asset class — same 5 flags, different linear weights per sleeve. Full 5-class breakdown ahead.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lang="en-US" sz="1250" b="1" i="0" u="none" strike="noStrike" cap="none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M1_score  =  </a:t>
            </a:r>
            <a:r>
              <a:rPr lang="en-US" sz="1250" b="1" i="0" u="none" strike="noStrike" cap="none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w_mom·momentum_score</a:t>
            </a:r>
            <a:r>
              <a:rPr lang="en-US" sz="1250" b="1" i="0" u="none" strike="noStrike" cap="none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-US" sz="1250" b="1" i="0" u="none" strike="noStrike" cap="none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w_trend·trend_score</a:t>
            </a:r>
            <a:r>
              <a:rPr lang="en-US" sz="1250" b="1" i="0" u="none" strike="noStrike" cap="none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-US" sz="1250" b="1" i="0" u="none" strike="noStrike" cap="none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w_macro·macro_score</a:t>
            </a:r>
            <a:r>
              <a:rPr lang="en-US" sz="1250" b="1" i="0" u="none" strike="noStrike" cap="none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− </a:t>
            </a:r>
            <a:r>
              <a:rPr lang="en-US" sz="1250" b="1" i="0" u="none" strike="noStrike" cap="none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w_risk·risk_penalty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2327D3-293D-B234-147E-D8D1931E4835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5D642-3957-DEAA-B9B0-49FF28D88B69}"/>
              </a:ext>
            </a:extLst>
          </p:cNvPr>
          <p:cNvSpPr txBox="1"/>
          <p:nvPr/>
        </p:nvSpPr>
        <p:spPr>
          <a:xfrm>
            <a:off x="548640" y="603504"/>
            <a:ext cx="113385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2A4A"/>
                </a:solidFill>
              </a:defRPr>
            </a:pPr>
            <a:r>
              <a:t>Momentum Windows: Variability and Why 12 / 26 / 52 Weeks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1315B-CB5E-8C64-EA3C-95B56A540D80}"/>
              </a:ext>
            </a:extLst>
          </p:cNvPr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EED11-4434-E13E-C9BC-397E272A7927}"/>
              </a:ext>
            </a:extLst>
          </p:cNvPr>
          <p:cNvSpPr txBox="1"/>
          <p:nvPr/>
        </p:nvSpPr>
        <p:spPr>
          <a:xfrm>
            <a:off x="658368" y="1463040"/>
            <a:ext cx="64465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55B66"/>
                </a:solidFill>
              </a:defRPr>
            </a:pPr>
            <a:r>
              <a:t>Formula: momentum_N = price_today / price_N_weeks_ago - 1, then z-scored cross-sectionally across sleeves.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9FCA75D2-8F0B-A319-7D35-F27A001734C6}"/>
              </a:ext>
            </a:extLst>
          </p:cNvPr>
          <p:cNvSpPr/>
          <p:nvPr/>
        </p:nvSpPr>
        <p:spPr>
          <a:xfrm>
            <a:off x="640080" y="1920240"/>
            <a:ext cx="3456432" cy="224028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7F4C40-B580-17BE-F683-EDA6CF33C3C8}"/>
              </a:ext>
            </a:extLst>
          </p:cNvPr>
          <p:cNvSpPr txBox="1"/>
          <p:nvPr/>
        </p:nvSpPr>
        <p:spPr>
          <a:xfrm>
            <a:off x="822959" y="2057400"/>
            <a:ext cx="3090672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F6FB2"/>
                </a:solidFill>
              </a:defRPr>
            </a:pPr>
            <a:r>
              <a:rPr dirty="0"/>
              <a:t>12 WEEKS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0B2A4A"/>
                </a:solidFill>
              </a:defRPr>
            </a:pPr>
            <a:r>
              <a:rPr dirty="0"/>
              <a:t>Recent pulse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- Most reactive week to week; lowest raw accumulated spread.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- Catches earnings surprises, CPI/Fed repricing, sudden risk-on/off moves.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- Useful when the market has just changed its mind.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912F1BC0-C525-AB4B-0081-5B5A376D6039}"/>
              </a:ext>
            </a:extLst>
          </p:cNvPr>
          <p:cNvSpPr/>
          <p:nvPr/>
        </p:nvSpPr>
        <p:spPr>
          <a:xfrm>
            <a:off x="4370832" y="1920240"/>
            <a:ext cx="3456432" cy="224028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531629-2FD2-12C7-C0D0-C310327C17E4}"/>
              </a:ext>
            </a:extLst>
          </p:cNvPr>
          <p:cNvSpPr txBox="1"/>
          <p:nvPr/>
        </p:nvSpPr>
        <p:spPr>
          <a:xfrm>
            <a:off x="4553712" y="2057400"/>
            <a:ext cx="3090672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B7801E"/>
                </a:solidFill>
              </a:defRPr>
            </a:pPr>
            <a:r>
              <a:rPr dirty="0"/>
              <a:t>26 WEEKS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0B2A4A"/>
                </a:solidFill>
              </a:defRPr>
            </a:pPr>
            <a:r>
              <a:rPr dirty="0"/>
              <a:t>Regime bridge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- Middle variability; filters one noisy quarter without becoming stale.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- Spans half a year: rate-cycle shifts, credit tightening, summer/winter demand.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- Balances timeliness with persistence.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6272A945-60F3-A5BB-D19A-7343ECDE5A2F}"/>
              </a:ext>
            </a:extLst>
          </p:cNvPr>
          <p:cNvSpPr/>
          <p:nvPr/>
        </p:nvSpPr>
        <p:spPr>
          <a:xfrm>
            <a:off x="8101583" y="1920240"/>
            <a:ext cx="3456432" cy="224028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B40B03-150B-1FC2-40B1-7C46B9462DBB}"/>
              </a:ext>
            </a:extLst>
          </p:cNvPr>
          <p:cNvSpPr txBox="1"/>
          <p:nvPr/>
        </p:nvSpPr>
        <p:spPr>
          <a:xfrm>
            <a:off x="8284463" y="2057400"/>
            <a:ext cx="3090672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E8E5A"/>
                </a:solidFill>
              </a:defRPr>
            </a:pPr>
            <a:r>
              <a:t>52 WEEKS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0B2A4A"/>
                </a:solidFill>
              </a:defRPr>
            </a:pPr>
            <a:r>
              <a:t>Full-year trend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Highest raw dispersion because a year compounds more shocks.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Covers four earnings seasons, holiday retail, winter energy, tax/year-end flows.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Helps avoid mistaking a seasonal burst for a durable winner.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C9CF98-6D58-56D2-A72D-1A3D373A261B}"/>
              </a:ext>
            </a:extLst>
          </p:cNvPr>
          <p:cNvSpPr/>
          <p:nvPr/>
        </p:nvSpPr>
        <p:spPr>
          <a:xfrm>
            <a:off x="640080" y="4480560"/>
            <a:ext cx="5440680" cy="1042415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5D9D16-CD51-0DEE-B015-4FF7B02147AF}"/>
              </a:ext>
            </a:extLst>
          </p:cNvPr>
          <p:cNvSpPr txBox="1"/>
          <p:nvPr/>
        </p:nvSpPr>
        <p:spPr>
          <a:xfrm>
            <a:off x="841248" y="4562856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2A4A"/>
                </a:solidFill>
              </a:defRPr>
            </a:pPr>
            <a:r>
              <a:t>Which is more variable?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EA1457-1792-1574-7CD3-21E4A48449EA}"/>
              </a:ext>
            </a:extLst>
          </p:cNvPr>
          <p:cNvSpPr txBox="1"/>
          <p:nvPr/>
        </p:nvSpPr>
        <p:spPr>
          <a:xfrm>
            <a:off x="841248" y="4818888"/>
            <a:ext cx="507492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55B66"/>
                </a:solidFill>
              </a:defRPr>
            </a:pPr>
            <a:r>
              <a:t>For raw N-week momentum, 52w &gt; 26w &gt; 12w in total variation: longer windows accumulate more return shocks and let winners/losers separate further. But 12w is the most reactive.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A645B7-EECB-D021-79E5-F7ADC1C5CEAB}"/>
              </a:ext>
            </a:extLst>
          </p:cNvPr>
          <p:cNvSpPr/>
          <p:nvPr/>
        </p:nvSpPr>
        <p:spPr>
          <a:xfrm>
            <a:off x="6355080" y="4480560"/>
            <a:ext cx="5202936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94F1AE-C4AF-288B-2B78-3E5050D1807C}"/>
              </a:ext>
            </a:extLst>
          </p:cNvPr>
          <p:cNvSpPr txBox="1"/>
          <p:nvPr/>
        </p:nvSpPr>
        <p:spPr>
          <a:xfrm>
            <a:off x="6565392" y="4599432"/>
            <a:ext cx="26974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B2A4A"/>
                </a:solidFill>
              </a:defRPr>
            </a:pPr>
            <a:r>
              <a:t>Raw momentum dispersion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77D06D-FF12-4006-253D-92D9FB2E1E22}"/>
              </a:ext>
            </a:extLst>
          </p:cNvPr>
          <p:cNvSpPr txBox="1"/>
          <p:nvPr/>
        </p:nvSpPr>
        <p:spPr>
          <a:xfrm>
            <a:off x="6565392" y="4919472"/>
            <a:ext cx="329184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12w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F83DC5-9B0E-0983-4D0F-FD1E9B5A0F0D}"/>
              </a:ext>
            </a:extLst>
          </p:cNvPr>
          <p:cNvSpPr/>
          <p:nvPr/>
        </p:nvSpPr>
        <p:spPr>
          <a:xfrm>
            <a:off x="6949440" y="4946904"/>
            <a:ext cx="735980" cy="1005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6705AC-ACEC-5C7A-6094-A881966EEF1B}"/>
              </a:ext>
            </a:extLst>
          </p:cNvPr>
          <p:cNvSpPr txBox="1"/>
          <p:nvPr/>
        </p:nvSpPr>
        <p:spPr>
          <a:xfrm>
            <a:off x="6565392" y="5175504"/>
            <a:ext cx="329184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26w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EF78211-34C0-639D-7AB6-81722C439780}"/>
              </a:ext>
            </a:extLst>
          </p:cNvPr>
          <p:cNvSpPr/>
          <p:nvPr/>
        </p:nvSpPr>
        <p:spPr>
          <a:xfrm>
            <a:off x="6949440" y="5202936"/>
            <a:ext cx="1067171" cy="100584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102CC2-FB19-B667-B38D-86A936C7BAA9}"/>
              </a:ext>
            </a:extLst>
          </p:cNvPr>
          <p:cNvSpPr txBox="1"/>
          <p:nvPr/>
        </p:nvSpPr>
        <p:spPr>
          <a:xfrm>
            <a:off x="6565392" y="5431536"/>
            <a:ext cx="329184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52w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25AD02C-7691-3FAE-195E-A3D3FB2E5F8A}"/>
              </a:ext>
            </a:extLst>
          </p:cNvPr>
          <p:cNvSpPr/>
          <p:nvPr/>
        </p:nvSpPr>
        <p:spPr>
          <a:xfrm>
            <a:off x="6949440" y="5458968"/>
            <a:ext cx="1508760" cy="1005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A857BF-1CD2-6553-A297-F6CA4DCCBE5C}"/>
              </a:ext>
            </a:extLst>
          </p:cNvPr>
          <p:cNvSpPr txBox="1"/>
          <p:nvPr/>
        </p:nvSpPr>
        <p:spPr>
          <a:xfrm>
            <a:off x="9006840" y="4599432"/>
            <a:ext cx="26974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B2A4A"/>
                </a:solidFill>
              </a:defRPr>
            </a:pPr>
            <a:r>
              <a:t>Week-to-week reactivity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509360-AF64-A1CE-4584-5CB277B7F816}"/>
              </a:ext>
            </a:extLst>
          </p:cNvPr>
          <p:cNvSpPr txBox="1"/>
          <p:nvPr/>
        </p:nvSpPr>
        <p:spPr>
          <a:xfrm>
            <a:off x="9006840" y="4919472"/>
            <a:ext cx="329184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12w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6204B88-6674-7976-4CD5-4F7ADBDBDD1F}"/>
              </a:ext>
            </a:extLst>
          </p:cNvPr>
          <p:cNvSpPr/>
          <p:nvPr/>
        </p:nvSpPr>
        <p:spPr>
          <a:xfrm>
            <a:off x="9390888" y="4946904"/>
            <a:ext cx="1508760" cy="1005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174573-F050-26F8-E56D-C89DE2CC030B}"/>
              </a:ext>
            </a:extLst>
          </p:cNvPr>
          <p:cNvSpPr txBox="1"/>
          <p:nvPr/>
        </p:nvSpPr>
        <p:spPr>
          <a:xfrm>
            <a:off x="9006840" y="5175504"/>
            <a:ext cx="329184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26w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99602E-2508-F498-AD78-BD033A646800}"/>
              </a:ext>
            </a:extLst>
          </p:cNvPr>
          <p:cNvSpPr/>
          <p:nvPr/>
        </p:nvSpPr>
        <p:spPr>
          <a:xfrm>
            <a:off x="9390888" y="5202936"/>
            <a:ext cx="1067171" cy="100584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551D07-98B1-28D6-302F-370D06C3F7AD}"/>
              </a:ext>
            </a:extLst>
          </p:cNvPr>
          <p:cNvSpPr txBox="1"/>
          <p:nvPr/>
        </p:nvSpPr>
        <p:spPr>
          <a:xfrm>
            <a:off x="9006840" y="5431536"/>
            <a:ext cx="329184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52w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0BA6340-DB46-0168-8F8F-9B7FCD0888E3}"/>
              </a:ext>
            </a:extLst>
          </p:cNvPr>
          <p:cNvSpPr/>
          <p:nvPr/>
        </p:nvSpPr>
        <p:spPr>
          <a:xfrm>
            <a:off x="9390888" y="5458968"/>
            <a:ext cx="735980" cy="1005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F2260A-7CFA-473F-8669-DBBEABB07D8A}"/>
              </a:ext>
            </a:extLst>
          </p:cNvPr>
          <p:cNvSpPr/>
          <p:nvPr/>
        </p:nvSpPr>
        <p:spPr>
          <a:xfrm>
            <a:off x="548640" y="5742432"/>
            <a:ext cx="11091672" cy="53035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B67C28-B3E7-F550-E810-A06B23CF64A1}"/>
              </a:ext>
            </a:extLst>
          </p:cNvPr>
          <p:cNvSpPr txBox="1"/>
          <p:nvPr/>
        </p:nvSpPr>
        <p:spPr>
          <a:xfrm>
            <a:off x="768096" y="5788152"/>
            <a:ext cx="10698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1F6FB2"/>
                </a:solidFill>
              </a:defRPr>
            </a:pPr>
            <a:r>
              <a:t>Takeaway: use all three because they answer different questions - what changed recently, what persisted for half a year, and what survived a full seasonal cycle.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28105C-9072-B775-E3EA-95F3ADABE338}"/>
              </a:ext>
            </a:extLst>
          </p:cNvPr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Field Project -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27366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WEIGHT SWEEP — EVIDENCE 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Is 45/25/20/10 the Best-Supported Weighting?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13"/>
          <p:cNvGraphicFramePr/>
          <p:nvPr/>
        </p:nvGraphicFramePr>
        <p:xfrm>
          <a:off x="548640" y="1371600"/>
          <a:ext cx="7040875" cy="4206150"/>
        </p:xfrm>
        <a:graphic>
          <a:graphicData uri="http://schemas.openxmlformats.org/drawingml/2006/table">
            <a:tbl>
              <a:tblPr>
                <a:noFill/>
                <a:tableStyleId>{7978136D-3031-4BD1-BF59-B5643D8CD422}</a:tableStyleId>
              </a:tblPr>
              <a:tblGrid>
                <a:gridCol w="420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Weights (mom/trend/macro/risk)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Walk-fwd Sharpe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Folds+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risk_heavy   0.40/0.22/0.18/0.20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0.811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(current)   0.45/0.25/0.20/0.10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0.709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no_macro   0.56/0.31/0.00/0.13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0.690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technical_5050   0.35/0.35/0.20/0.10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0.672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momentum_pure   0.85/0.00/0.00/0.15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0.642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macro_heavy   0.35/0.20/0.35/0.10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0.638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trend_only   0.00/0.70/0.20/0.10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0.521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momentum_only   0.70/0.00/0.20/0.10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0.500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4" name="Google Shape;214;p13"/>
          <p:cNvSpPr/>
          <p:nvPr/>
        </p:nvSpPr>
        <p:spPr>
          <a:xfrm>
            <a:off x="7863840" y="1371600"/>
            <a:ext cx="3794760" cy="123444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FEF3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8046720" y="15087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risk_heavy: 0.811 Sharpe, 6/6 folds positive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8046720" y="192024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only config positive in every single fold — baseline is positive in 4/6.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7863840" y="278892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we're still running baseline, not switching today: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7863840" y="3108960"/>
            <a:ext cx="39776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0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One reproduction — not yet stress-tested the way other headline claims are</a:t>
            </a:r>
            <a:br>
              <a:rPr lang="en-US" sz="10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0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We've been burned before (trend-heavy looked good, failed broader testing)</a:t>
            </a:r>
            <a:br>
              <a:rPr lang="en-US" sz="10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10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Changing production config is a real decision with downstream effects</a:t>
            </a:r>
            <a:br>
              <a:rPr lang="en-US" sz="10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45/25/20/10 remains justified as the current production choice — earned through repeated testing, not proven optimal. risk_heavy is a strong, reproducible candidate for the next config change.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HYPOTHESIS STATED BEFORE RESULTS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Single-Factor Experiment: risk_100 Is the Standout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777240" y="128016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Hypothesis (written before running): risk strongest in isolation (pattern from Evidence A); momentum/trend mid-pack; macro weakest.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14"/>
          <p:cNvGraphicFramePr/>
          <p:nvPr/>
        </p:nvGraphicFramePr>
        <p:xfrm>
          <a:off x="548640" y="2240280"/>
          <a:ext cx="7406650" cy="2743250"/>
        </p:xfrm>
        <a:graphic>
          <a:graphicData uri="http://schemas.openxmlformats.org/drawingml/2006/table">
            <a:tbl>
              <a:tblPr>
                <a:noFill/>
                <a:tableStyleId>{7978136D-3031-4BD1-BF59-B5643D8CD422}</a:tableStyleId>
              </a:tblPr>
              <a:tblGrid>
                <a:gridCol w="283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Factor (100% weight)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Walk-fwd Sharpe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Folds+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Ann. Return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risk_100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0.922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5/6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5.70%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trend_100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5/6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5.29%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momentum_100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0.446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4/6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5.15%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macro_100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0.237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4/6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2.35%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2" name="Google Shape;232;p14"/>
          <p:cNvSpPr/>
          <p:nvPr/>
        </p:nvSpPr>
        <p:spPr>
          <a:xfrm>
            <a:off x="8183880" y="2240280"/>
            <a:ext cx="3474720" cy="2743200"/>
          </a:xfrm>
          <a:prstGeom prst="rect">
            <a:avLst/>
          </a:prstGeom>
          <a:solidFill>
            <a:srgbClr val="E9F5EE"/>
          </a:solidFill>
          <a:ln w="12700" cap="flat" cmpd="sng">
            <a:solidFill>
              <a:srgbClr val="E9F5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8366760" y="2423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Hypothesis largely confirmed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8366760" y="283464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Risk strongest, macro weakest — as predicted. One deviation: momentum placed slightly below trend, not above.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548640" y="5257800"/>
            <a:ext cx="11064240" cy="105156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FEF3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777240" y="5257800"/>
            <a:ext cx="10607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Caveat to state proactively: risk_100's high Sharpe comes from low volatility, not high return — 5.70% ann. return is 2nd-lowest of the four. It picks the steadiest sleeves, not the highest-returning ones.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M2 — WHITE BOX, NOT BLACK BOX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52 Features to One Probability: The Actual Steps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609448" y="1691640"/>
            <a:ext cx="2011680" cy="20116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746608" y="181051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74660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Impute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746608" y="26974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values → training median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2621128" y="23774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2849728" y="1691640"/>
            <a:ext cx="2011680" cy="20116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2986888" y="181051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298688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Standardize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2986888" y="26974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feature → mean 0, std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4861408" y="23774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5090008" y="1691640"/>
            <a:ext cx="2011680" cy="20116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5227168" y="181051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522716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5227168" y="26974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regression, balanced class weight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7101688" y="23774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7330288" y="1691640"/>
            <a:ext cx="2011680" cy="20116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7467448" y="181051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46744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7467448" y="26974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3-fold sigmoid (Platt scaling)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9341968" y="237744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9570568" y="1691640"/>
            <a:ext cx="2011680" cy="2011680"/>
          </a:xfrm>
          <a:prstGeom prst="rect">
            <a:avLst/>
          </a:prstGeom>
          <a:solidFill>
            <a:srgbClr val="E8A33D"/>
          </a:solidFill>
          <a:ln w="12700" cap="flat" cmpd="sng">
            <a:solidFill>
              <a:srgbClr val="E8A3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9707728" y="181051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970772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9707728" y="26974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p_success — one number, nothing else visible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548640" y="3977640"/>
            <a:ext cx="11064240" cy="214884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step most likely to get skipped: calibration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raw logistic regression's probability is refit through a second sigmoid transform (3-fold CV) — so p_success = 0.6 actually means roughly 60% real-world success, not just a correctly-ordered but arbitrarily-scaled number.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raw_score = b0 + b1·x1 + ... + b52·x52      p_raw = 1 / (1 + e^(−raw_score))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rPr dirty="0"/>
              <a:t>PART 2 - M2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2A4A"/>
                </a:solidFill>
              </a:defRPr>
            </a:pPr>
            <a:r>
              <a:t>Which Missing Values Are Imputed Before M2?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555B66"/>
                </a:solidFill>
              </a:defRPr>
            </a:pPr>
            <a:r>
              <a:t>In code: M2 runs SimpleImputer(strategy='median') before StandardScaler, logistic regression, and sigmoid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2395728" cy="713232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1762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</a:defRPr>
            </a:pPr>
            <a:r>
              <a:t>1  Fit rows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FFFFFF"/>
                </a:solidFill>
              </a:defRPr>
            </a:pPr>
            <a:r>
              <a:t>M1_signal != 0 and meta_label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112264"/>
            <a:ext cx="310896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F6FB2"/>
                </a:solidFill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965960"/>
            <a:ext cx="2395728" cy="713232"/>
          </a:xfrm>
          <a:prstGeom prst="round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057400"/>
            <a:ext cx="21762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</a:defRPr>
            </a:pPr>
            <a:r>
              <a:t>2  Impute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FFFFFF"/>
                </a:solidFill>
              </a:defRPr>
            </a:pPr>
            <a:r>
              <a:t>each feature's training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112264"/>
            <a:ext cx="310896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F6FB2"/>
                </a:solidFill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65960"/>
            <a:ext cx="2395728" cy="713232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1762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</a:defRPr>
            </a:pPr>
            <a:r>
              <a:t>3  Scale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FFFFFF"/>
                </a:solidFill>
              </a:defRPr>
            </a:pPr>
            <a:r>
              <a:t>mean 0, std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2112264"/>
            <a:ext cx="310896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F6FB2"/>
                </a:solidFill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1" y="1965960"/>
            <a:ext cx="2395728" cy="713232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19" y="2057400"/>
            <a:ext cx="21762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</a:defRPr>
            </a:pPr>
            <a:r>
              <a:t>4  Probability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FFFFFF"/>
                </a:solidFill>
              </a:defRPr>
            </a:pPr>
            <a:r>
              <a:t>calibrated p_success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2"/>
            <a:ext cx="3547872" cy="2075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035808"/>
            <a:ext cx="3182112" cy="18470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80" b="1">
                <a:solidFill>
                  <a:srgbClr val="C03A2B"/>
                </a:solidFill>
              </a:defRPr>
            </a:pPr>
            <a:r>
              <a:t>ACTUAL NANS IN TRAIN FIT ROWS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30" b="1">
                <a:solidFill>
                  <a:srgbClr val="0B2A4A"/>
                </a:solidFill>
              </a:defRPr>
            </a:pPr>
            <a:r>
              <a:t>23 of 52 M2 columns had missing values.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Mostly rolling lookbacks: mom_4w/12w/26w/52w, vol_4w/12w/26w, trend_signal, drawdown_26w, corr_to_spy_26w.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Also derived relatives: z_* versions, rel_mom_12w, mom_vol_interaction, dispersion_4w/12w, avg_pairwise_corr_26w, m1_x_vol.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Counts are largest for 52w features because they need the longest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2907792"/>
            <a:ext cx="3328416" cy="2075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0288" y="3035808"/>
            <a:ext cx="2962656" cy="18470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80" b="1">
                <a:solidFill>
                  <a:srgbClr val="1F6FB2"/>
                </a:solidFill>
              </a:defRPr>
            </a:pPr>
            <a:r>
              <a:rPr dirty="0"/>
              <a:t>HOW THE FILL WORKS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30" b="1">
                <a:solidFill>
                  <a:srgbClr val="0B2A4A"/>
                </a:solidFill>
              </a:defRPr>
            </a:pPr>
            <a:r>
              <a:rPr dirty="0"/>
              <a:t>Median is learned feature-by-feature from training rows only.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Example: missing mom_52w -&gt; training median of mom_52w, not zero and not a future value.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The same fitted medians are reused at prediction time.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rPr dirty="0"/>
              <a:t>Labels, future returns, </a:t>
            </a:r>
            <a:r>
              <a:rPr dirty="0" err="1"/>
              <a:t>p_success</a:t>
            </a:r>
            <a:r>
              <a:rPr dirty="0"/>
              <a:t>, and raw prices are not M2 inputs, so they are not imputed here.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2907792"/>
            <a:ext cx="3602736" cy="2075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59" y="3035808"/>
            <a:ext cx="3236976" cy="18470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80" b="1">
                <a:solidFill>
                  <a:srgbClr val="1E8E5A"/>
                </a:solidFill>
              </a:defRPr>
            </a:pPr>
            <a:r>
              <a:t>WHY IT HAPPENS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30" b="1">
                <a:solidFill>
                  <a:srgbClr val="0B2A4A"/>
                </a:solidFill>
              </a:defRPr>
            </a:pPr>
            <a:r>
              <a:t>Rolling features have a warmup period.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A 52w momentum needs 52 prior weekly closes, then shift(1) adds one more no-lookahead delay.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Cross-sectional z-scores can be missing if all sleeves look the same that week, e.g. drawdown = 0 for each selected sleeve.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Macro/VIX and asset-class dummy columns were complete in the saved training rows.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212080"/>
            <a:ext cx="10899648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5248656"/>
            <a:ext cx="106984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555B66"/>
                </a:solidFill>
              </a:defRPr>
            </a:pPr>
            <a:r>
              <a:t>Saved long-only run: 1,500 M2 train rows; top missing counts were mom_52w / z_mom_52w = 159, trend / z_trend = 120, and 26w risk/correlation features = 81.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51206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5797296"/>
            <a:ext cx="1069848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F6FB2"/>
                </a:solidFill>
              </a:defRPr>
            </a:pPr>
            <a:r>
              <a:t>Takeaway: imputation is a defensive preprocessing step for early-window and zero-dispersion gaps; it does not manufacture labels or use future information.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Field Project - Final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M2 — FEATURE GROUPS &amp; FOLLOW-UPS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52 Inputs, and Two Questions We Left Hanging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3" name="Google Shape;283;p16"/>
          <p:cNvGraphicFramePr/>
          <p:nvPr/>
        </p:nvGraphicFramePr>
        <p:xfrm>
          <a:off x="548640" y="1371600"/>
          <a:ext cx="6675125" cy="2743200"/>
        </p:xfrm>
        <a:graphic>
          <a:graphicData uri="http://schemas.openxmlformats.org/drawingml/2006/table">
            <a:tbl>
              <a:tblPr>
                <a:noFill/>
                <a:tableStyleId>{7978136D-3031-4BD1-BF59-B5643D8CD422}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What's in it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/ technical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Momentum, trend, volatility, drawdown, cross-asset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External macro + carry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FRED/VIX-derived, incl. 3 M1 doesn't use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 context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M1's own scores — raw ingredients, not track record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Dynamic interactions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m1_cs_rank, m1_score_abs, m1_x_vol, m1_x_risk_off, m1_x_macro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Asset identity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dummy per sleeve type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4" name="Google Shape;284;p16"/>
          <p:cNvSpPr/>
          <p:nvPr/>
        </p:nvSpPr>
        <p:spPr>
          <a:xfrm>
            <a:off x="7452360" y="1371600"/>
            <a:ext cx="4160520" cy="2743200"/>
          </a:xfrm>
          <a:prstGeom prst="rect">
            <a:avLst/>
          </a:prstGeom>
          <a:solidFill>
            <a:srgbClr val="E9F5EE"/>
          </a:solidFill>
          <a:ln w="12700" cap="flat" cmpd="sng">
            <a:solidFill>
              <a:srgbClr val="E9F5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7635240" y="150876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Answered: do asset-class dummies inflate the score?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7635240" y="205740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— all 52 features, dummies included, pass through the same StandardScaler. A dummy doesn't get outsized influence just for being 0/1.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7635240" y="310896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5 interaction terms, named: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7635240" y="342900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M1's rank, score magnitude, and score × volatility / risk-off / macro — was this a high-conviction call made in a specific regime.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548640" y="4343400"/>
            <a:ext cx="11064240" cy="169164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position cannot exist without M1 first proposing 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raw_weight = M1_signal × M3_size × ...  (src/portfolio.py) — proven structurally: the multiplication forces zero whenever M1_signal = 0, regardless of anything M2 or M3 computed.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M3 itself: p_success alone → binary threshold / max(0, 2p−1) / percentile rank → M3_size. No fitting at this stage.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822960" y="292608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M3: Portfolio Layer &amp; AI Disclosure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Position sizing, volatility targeting, and what was and wasn't delegated to AI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822960" y="2331720"/>
            <a:ext cx="100584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3 — M3: PORTFOLIO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From p_success to a Position Weight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548646" y="1429675"/>
            <a:ext cx="21282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000" tIns="66475" rIns="133000" bIns="66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64"/>
              <a:buFont typeface="Calibri"/>
              <a:buNone/>
            </a:pPr>
            <a:r>
              <a:rPr lang="en-US" sz="1964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endParaRPr sz="19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2743438" y="1429675"/>
            <a:ext cx="1316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000" tIns="66475" rIns="133000" bIns="66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91"/>
              <a:buFont typeface="Courier New"/>
              <a:buNone/>
            </a:pPr>
            <a:r>
              <a:rPr lang="en-US" sz="1891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size = 1 if p_success ≥ 0.55, else 0</a:t>
            </a:r>
            <a:endParaRPr sz="18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548646" y="2227777"/>
            <a:ext cx="21282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000" tIns="66475" rIns="133000" bIns="66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64"/>
              <a:buFont typeface="Calibri"/>
              <a:buNone/>
            </a:pPr>
            <a:r>
              <a:rPr lang="en-US" sz="1964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sz="19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2743438" y="2227777"/>
            <a:ext cx="1316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000" tIns="66475" rIns="133000" bIns="66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91"/>
              <a:buFont typeface="Courier New"/>
              <a:buNone/>
            </a:pPr>
            <a:r>
              <a:rPr lang="en-US" sz="1891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size = max(0, 2·p_success − 1)</a:t>
            </a:r>
            <a:endParaRPr sz="18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548646" y="3025879"/>
            <a:ext cx="21282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000" tIns="66475" rIns="133000" bIns="66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64"/>
              <a:buFont typeface="Calibri"/>
              <a:buNone/>
            </a:pPr>
            <a:r>
              <a:rPr lang="en-US" sz="1964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ECDF</a:t>
            </a:r>
            <a:endParaRPr sz="19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2743438" y="3025879"/>
            <a:ext cx="1316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000" tIns="66475" rIns="133000" bIns="66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91"/>
              <a:buFont typeface="Courier New"/>
              <a:buNone/>
            </a:pPr>
            <a:r>
              <a:rPr lang="en-US" sz="1891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size = percentile rank of p_success vs. training history</a:t>
            </a:r>
            <a:endParaRPr sz="18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548640" y="4114800"/>
            <a:ext cx="1106424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raw_weight  =  M1_signal  ×  M3_size  ×  conviction  ×  base_budget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548640" y="4846320"/>
            <a:ext cx="11064240" cy="105156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FEF3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777240" y="4846320"/>
            <a:ext cx="10607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base_budget is a fixed 1/7 per sleeve — there is no competition between sleeves for capital. Each M1-selected sleeve is sized independently against its own p_success, not ranked against the other two.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3 — M3: PORTFOLIO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Portfolio Constraints &amp; Volatility Targeting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548640" y="12801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" name="Google Shape;330;p19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{7978136D-3031-4BD1-BF59-B5643D8CD422}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max_abs_asset_weight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max_gross_exposure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transaction_cost_bps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1" name="Google Shape;331;p19"/>
          <p:cNvSpPr/>
          <p:nvPr/>
        </p:nvSpPr>
        <p:spPr>
          <a:xfrm>
            <a:off x="548640" y="34747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If raw weights exceed 100% gross exposure, every position is scaled down by the same proportional factor — a uniform haircut, not a competitive reallocation.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5989320" y="1280160"/>
            <a:ext cx="5623560" cy="448056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6217920" y="14630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VOLATILITY TARGETING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6217920" y="17830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Target: 12% annualized  ·  Lookback: 26 weeks  ·  Max scale-up: 2.0x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6217920" y="2240280"/>
            <a:ext cx="52120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1. Compute trailing 26-week realized portfolio vol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2. scale = target_vol / realized_vol  (capped at 2.0x)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3. Every position multiplied by that single scale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4. Re-capped at 100% gross exposure if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6217920" y="38404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realized_vol uses returns from t-1 and earlier only (weights shifted one period) — no look-ahead in the scaling calculation itself.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6217920" y="457200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Vol targeting is a portfolio-level lever, separate from M3's per-sleeve sizing — it scales the whole book up or down after M3 has already sized each position.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3 — M3: PORTFOLIO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Results by Sizing Mode 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7" name="Google Shape;347;p20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{7978136D-3031-4BD1-BF59-B5643D8CD422}</a:tableStyleId>
              </a:tblPr>
              <a:tblGrid>
                <a:gridCol w="420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Ann. Return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Sharpe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Drawdown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 Only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8.92%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−20.17%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M1+M2+M3 Binary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8.67%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−14.45%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M1+M2+M3 Linear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1.77%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−2.39%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M1+M2+M3 ECDF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4.58%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−7.51%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8" name="Google Shape;348;p20"/>
          <p:cNvSpPr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Risk reduction is consistent across every mode; Sharpe/return improvement is window-dependent, not confirmed out-of-sample.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 is a risk-throttling layer on M1 — not yet a proven source of return or predictive value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Every mode reduces drawdown vs. M1-only, in every window tested. None has been shown to add return; linear and ECDF trade return away for lower volatility. Only ECDF has a walk-forward result, and it's unfavorable.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3 — REQUIRED DISCLOSURE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AI / LLM Disclosure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WHAT WAS USED, FOR WHAT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Claude (Anthropic) — code generation and debugging, data analysis and verification against source files, drafting reports and decks, </a:t>
            </a:r>
            <a:r>
              <a:rPr lang="en-US" sz="12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helping to explain</a:t>
            </a:r>
            <a:r>
              <a:rPr lang="en-US" sz="12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methodology.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548640" y="2194560"/>
            <a:ext cx="11064240" cy="233172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777240" y="233172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WASN'T TAKEN ON FAITH — CAUGHT AND CORRECTED THIS PROJECT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777240" y="265176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1051560" y="265176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weekly progress report</a:t>
            </a: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claimed walk-forward ECDF edge was positive in 4/6 folds — the real, reproduced number was 1/6. Hardcoded, unsourced text; found and fixed.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777240" y="320040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1051560" y="320040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verbal answer said risk-penalty terms were “averaged” — the code shows they're summed. Corrected proactively before presenting.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777240" y="37490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1051560" y="3749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guess that 12-week momentum was “most variable” was wrong — replaced with real computed statistics (52-week is most variable).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548650" y="4709154"/>
            <a:ext cx="11064300" cy="6402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Standing practice: no number goes into a deck without a checked-in, reproducible file behind it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822960" y="292608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Results, Limitations &amp; Roadmap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 metric set, an honest accounting of what's not yet proven, and what's next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22960" y="2331720"/>
            <a:ext cx="100584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4 — RESULTS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Backtest Results: Three Windows, Three Different Stories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548640" y="12344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FULL SAMPLE (2011–present)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2" name="Google Shape;392;p23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{7978136D-3031-4BD1-BF59-B5643D8CD422}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Sharpe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DD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 Only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5.91%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0.617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−20.17%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5.66%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0.618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−18.21%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1.08%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0.578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−3.96%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ECDF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1.81%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0.332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−13.11%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3" name="Google Shape;393;p23"/>
          <p:cNvSpPr/>
          <p:nvPr/>
        </p:nvSpPr>
        <p:spPr>
          <a:xfrm>
            <a:off x="6263640" y="12344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TEST PERIOD (2021+)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4" name="Google Shape;394;p23"/>
          <p:cNvGraphicFramePr/>
          <p:nvPr/>
        </p:nvGraphicFramePr>
        <p:xfrm>
          <a:off x="6263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{7978136D-3031-4BD1-BF59-B5643D8CD422}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Sharpe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DD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 Only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8.92%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0.875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−20.17%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8.67%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0.951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−14.45%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1.77%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0.975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−2.39%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ECDF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4.58%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−7.51%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5" name="Google Shape;395;p23"/>
          <p:cNvSpPr/>
          <p:nvPr/>
        </p:nvSpPr>
        <p:spPr>
          <a:xfrm>
            <a:off x="548640" y="3749040"/>
            <a:ext cx="11064240" cy="173736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777240" y="388620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WALK-FORWARD (6 expanding folds, 2015–2026)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777240" y="425196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ECDF is the only sizing mode formally walk-forward tested against M1-only: mean Sharpe edge −0.190, positive in just 1 of 6 folds. Binary and Linear have not been walk-forward tested at this level — say that directly if asked, rather than implying the test-period table above is confirmed out-of-sample.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windows, three different pictures — which one you look at changes the story materially. That's exactly why we present all three, not just the best-looking one.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4 — INTERPRETATION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Strongest Defensible Conclusion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548640" y="1371600"/>
            <a:ext cx="3538728" cy="210312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548640" y="1371600"/>
            <a:ext cx="3538728" cy="73152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731520" y="1554480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Drawdown 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731520" y="2011680"/>
            <a:ext cx="317296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Holds in every window, every mode, without exception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4311396" y="1371600"/>
            <a:ext cx="3538728" cy="210312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4311396" y="1371600"/>
            <a:ext cx="3538728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4494276" y="1554480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Sharpe ↑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4494276" y="2011680"/>
            <a:ext cx="317296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Test-period only — flat/negative full sample, unconfirmed walk-forward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8074152" y="1371600"/>
            <a:ext cx="3538728" cy="210312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8074152" y="1371600"/>
            <a:ext cx="3538728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8257032" y="1554480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Return 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8257032" y="2011680"/>
            <a:ext cx="317296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Not a source of improvement in any window, any mode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548640" y="3703320"/>
            <a:ext cx="11064240" cy="18288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822960" y="38862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Layering M2/M3 on M1 gives a real, mode-dependent drawdown reduction — not yet a validated Sharpe or return edge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Calibration is roughly sound (Brier 0.239) but not itself a headline finding — M2's weak ranking power (AUC 0.539) is the reason risk control, not selection, is where the real value shows up.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4 — LIMITATIONS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 We're Not Claiming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FEF3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731520" y="146304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1554480" y="1463040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M2 sees M1's outputs, not M1's errors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1554480" y="181051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Not yet true meta-labeling in the strictest sense — flagged by the advisor, top priority to fix.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548640" y="2359152"/>
            <a:ext cx="11064240" cy="86868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777240" y="2450592"/>
            <a:ext cx="10744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M2's ranking power is weak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777240" y="2798064"/>
            <a:ext cx="10744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AUC 0.539, barely above random — caps how much any sizing rule built on p_success can add.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548640" y="3346704"/>
            <a:ext cx="11064240" cy="86868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777240" y="3438144"/>
            <a:ext cx="10744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Binary &amp; Linear untested walk-forward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777240" y="3785616"/>
            <a:ext cx="10744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Only ECDF has been formally walk-forward validated against M1-only; the other two rest on single-split evidence.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548640" y="4334256"/>
            <a:ext cx="11064240" cy="86868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777240" y="4425696"/>
            <a:ext cx="10744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Macro design is intuition-driven, unbenchmarked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777240" y="4773168"/>
            <a:ext cx="10744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Derived flags vs. raw macro values has not been tested with the same rigor applied elsewhere.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548640" y="5321808"/>
            <a:ext cx="11064240" cy="868680"/>
          </a:xfrm>
          <a:prstGeom prst="rect">
            <a:avLst/>
          </a:prstGeom>
          <a:solidFill>
            <a:srgbClr val="EEF3FD"/>
          </a:solidFill>
          <a:ln w="12700" cap="flat" cmpd="sng">
            <a:solidFill>
              <a:srgbClr val="EE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777240" y="5413248"/>
            <a:ext cx="10744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 of 7 sleeves are ETF/futures proxies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777240" y="5760720"/>
            <a:ext cx="10744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Disclosed, not hidden — true index history wasn't freely available for those five.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 4 — ROADMAP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Next Steps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548640" y="137160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1188720" y="1389888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 M1 track-record features in M2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1188720" y="1719072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Rolling hit-rate / residual, replacing raw M1-ingredient features — aligns with true meta-labeling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548640" y="214884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1188720" y="2167128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Benchmark macro: derived flags vs. raw values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1188720" y="2496312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walk-forward rigor applied to the weight sweep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548640" y="292608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1188720" y="2944368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risk_100 threshold sensitivity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1188720" y="3273552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Follow up on our strongest single-factor result to date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548640" y="370332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1188720" y="3721608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Walk-forward Binary and Linear formally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1188720" y="4050792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Close the gap — only ECDF has been tested this rigorously so far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Closing takeaway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 provides real, consistent drawdown control. M1's selection rule is empirically improvable toward a heavier risk weight. But the most important next step is aligning M2 with true meta-labeling before making any further return or Sharpe claims.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SSGA Field Project — Final 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7"/>
          <p:cNvSpPr/>
          <p:nvPr/>
        </p:nvSpPr>
        <p:spPr>
          <a:xfrm>
            <a:off x="822960" y="26517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 welcome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SSGA Field Project Team  ·  Final Presentation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822960" y="2514600"/>
            <a:ext cx="100584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4196</Words>
  <Application>Microsoft Office PowerPoint</Application>
  <PresentationFormat>Widescreen</PresentationFormat>
  <Paragraphs>548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Vitaly Chait</dc:creator>
  <cp:lastModifiedBy>Vitaly Chait</cp:lastModifiedBy>
  <cp:revision>2</cp:revision>
  <dcterms:modified xsi:type="dcterms:W3CDTF">2026-08-05T13:40:52Z</dcterms:modified>
</cp:coreProperties>
</file>