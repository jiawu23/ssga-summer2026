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0B2A4A"/>
                </a:solidFill>
              </a:defRPr>
            </a:pPr>
            <a:r>
              <a:t>Multi-Asset Meta-Labeling: architecture, evidence,</a:t>
            </a:r>
            <a:br/>
            <a:r>
              <a:t>and an honest read on M3</a:t>
            </a:r>
          </a:p>
          <a:p>
            <a:pPr>
              <a:spcBef>
                <a:spcPts val="1200"/>
              </a:spcBef>
              <a:spcAft>
                <a:spcPts val="0"/>
              </a:spcAft>
              <a:defRPr sz="1800" b="0">
                <a:solidFill>
                  <a:srgbClr val="555B66"/>
                </a:solidFill>
              </a:defRPr>
            </a:pPr>
            <a:r>
              <a:t>Answering the four deliverables — with reproducible, walk-forward-controlled results.</a:t>
            </a:r>
          </a:p>
          <a:p>
            <a:pPr>
              <a:spcBef>
                <a:spcPts val="1400"/>
              </a:spcBef>
              <a:spcAft>
                <a:spcPts val="0"/>
              </a:spcAft>
              <a:defRPr sz="1500" b="1">
                <a:solidFill>
                  <a:srgbClr val="1F6FB2"/>
                </a:solidFill>
              </a:defRPr>
            </a:pPr>
            <a:r>
              <a:t>Next update · July 2026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 b="0">
                <a:solidFill>
                  <a:srgbClr val="555B66"/>
                </a:solidFill>
              </a:defRPr>
            </a:pPr>
            <a:r>
              <a:t>Ela Kumuk  ·  SSGA Field Project  ·  Research only, not investment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SCOPE OF THIS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Your feedback — where each point is addressed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0879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4396"/>
                <a:gridCol w="5454396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Feedback from the review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Addressed on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1 · Complete M1–M2–M3 architecture (inputs, outputs, training, inference)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6FB2"/>
                          </a:solidFill>
                        </a:defRPr>
                      </a:pPr>
                      <a:r>
                        <a:t>Slides 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2 · Worked numerical example — one asset to its final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6FB2"/>
                          </a:solidFill>
                        </a:defRPr>
                      </a:pPr>
                      <a:r>
                        <a:t>Slide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3 · Stronger meta-labeling explanation (the five questions)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6FB2"/>
                          </a:solidFill>
                        </a:defRPr>
                      </a:pPr>
                      <a:r>
                        <a:t>Slides 5–6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4 · Broader experimentation — M3 &amp; asset-allocation alternatives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6FB2"/>
                          </a:solidFill>
                        </a:defRPr>
                      </a:pPr>
                      <a:r>
                        <a:t>Slides 9, 11–12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5 · Control for gross / net exposure or volatility (mechanical vs genuine)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6FB2"/>
                          </a:solidFill>
                        </a:defRPr>
                      </a:pPr>
                      <a:r>
                        <a:t>Slide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6 · Walk-forward testing across multiple market periods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6FB2"/>
                          </a:solidFill>
                        </a:defRPr>
                      </a:pPr>
                      <a:r>
                        <a:t>Slides 10–12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7 · One authoritative, reproducible set of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6FB2"/>
                          </a:solidFill>
                        </a:defRPr>
                      </a:pPr>
                      <a:r>
                        <a:t>Slide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37175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55B66"/>
                </a:solidFill>
              </a:defRPr>
            </a:pPr>
            <a:r>
              <a:t>Every requested item maps to a specific slide; all numbers come from reproduced, walk-forward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DELIVERABLE 1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How information flows,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08792" cy="4572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17904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DATA  ·  7 index sleeves + VIX + 7 FRED macro series  ·  weekly Fri close, shift(1), macro lagged 4w (no look-ahead)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3383280" cy="1737360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359152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A4A"/>
                </a:solidFill>
              </a:defRPr>
            </a:pPr>
            <a:r>
              <a:t>M1  ·  SIDE</a:t>
            </a:r>
          </a:p>
          <a:p>
            <a:pPr>
              <a:spcAft>
                <a:spcPts val="200"/>
              </a:spcAft>
              <a:defRPr sz="1150" b="0">
                <a:solidFill>
                  <a:srgbClr val="555B66"/>
                </a:solidFill>
              </a:defRPr>
            </a:pPr>
            <a:r>
              <a:t>Trains: rule-based, fixed weights</a:t>
            </a:r>
          </a:p>
          <a:p>
            <a:pPr>
              <a:spcAft>
                <a:spcPts val="200"/>
              </a:spcAft>
              <a:defRPr sz="1150" b="0">
                <a:solidFill>
                  <a:srgbClr val="555B66"/>
                </a:solidFill>
              </a:defRPr>
            </a:pPr>
            <a:r>
              <a:t>Infers: score → weekly top-3</a:t>
            </a:r>
          </a:p>
          <a:p>
            <a:pPr>
              <a:spcAft>
                <a:spcPts val="200"/>
              </a:spcAft>
              <a:defRPr sz="1150" b="0">
                <a:solidFill>
                  <a:srgbClr val="555B66"/>
                </a:solidFill>
              </a:defRPr>
            </a:pPr>
            <a:r>
              <a:t>Output: signal ∈ {0, +1}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26517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1F6FB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240280"/>
            <a:ext cx="3383280" cy="1737360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359152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A4A"/>
                </a:solidFill>
              </a:defRPr>
            </a:pPr>
            <a:r>
              <a:t>M2  ·  QUALITY</a:t>
            </a:r>
          </a:p>
          <a:p>
            <a:pPr>
              <a:spcAft>
                <a:spcPts val="200"/>
              </a:spcAft>
              <a:defRPr sz="1150" b="0">
                <a:solidFill>
                  <a:srgbClr val="555B66"/>
                </a:solidFill>
              </a:defRPr>
            </a:pPr>
            <a:r>
              <a:t>Trains: logistic on M1≠0 rows</a:t>
            </a:r>
          </a:p>
          <a:p>
            <a:pPr>
              <a:spcAft>
                <a:spcPts val="200"/>
              </a:spcAft>
              <a:defRPr sz="1150" b="0">
                <a:solidFill>
                  <a:srgbClr val="555B66"/>
                </a:solidFill>
              </a:defRPr>
            </a:pPr>
            <a:r>
              <a:t>Infers: P(trade succeeds)</a:t>
            </a:r>
          </a:p>
          <a:p>
            <a:pPr>
              <a:spcAft>
                <a:spcPts val="200"/>
              </a:spcAft>
              <a:defRPr sz="1150" b="0">
                <a:solidFill>
                  <a:srgbClr val="555B66"/>
                </a:solidFill>
              </a:defRPr>
            </a:pPr>
            <a:r>
              <a:t>Output: p_success ∈ (0,1)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5" y="26517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1F6FB2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2240280"/>
            <a:ext cx="3383280" cy="1737360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5" y="2359152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A4A"/>
                </a:solidFill>
              </a:defRPr>
            </a:pPr>
            <a:r>
              <a:t>M3  ·  SIZE</a:t>
            </a:r>
          </a:p>
          <a:p>
            <a:pPr>
              <a:spcAft>
                <a:spcPts val="200"/>
              </a:spcAft>
              <a:defRPr sz="1150" b="0">
                <a:solidFill>
                  <a:srgbClr val="555B66"/>
                </a:solidFill>
              </a:defRPr>
            </a:pPr>
            <a:r>
              <a:t>Not trained — a fixed rule</a:t>
            </a:r>
          </a:p>
          <a:p>
            <a:pPr>
              <a:spcAft>
                <a:spcPts val="200"/>
              </a:spcAft>
              <a:defRPr sz="1150" b="0">
                <a:solidFill>
                  <a:srgbClr val="555B66"/>
                </a:solidFill>
              </a:defRPr>
            </a:pPr>
            <a:r>
              <a:t>binary / linear / ECDF</a:t>
            </a:r>
          </a:p>
          <a:p>
            <a:pPr>
              <a:spcAft>
                <a:spcPts val="200"/>
              </a:spcAft>
              <a:defRPr sz="1150" b="0">
                <a:solidFill>
                  <a:srgbClr val="555B66"/>
                </a:solidFill>
              </a:defRPr>
            </a:pPr>
            <a:r>
              <a:t>Output: M3_size ∈ [0,1]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5349240" cy="868680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7939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B2A4A"/>
                </a:solidFill>
              </a:defRPr>
            </a:pPr>
            <a:r>
              <a:t>PORTFOLIO</a:t>
            </a:r>
          </a:p>
          <a:p>
            <a:pPr>
              <a:spcAft>
                <a:spcPts val="0"/>
              </a:spcAft>
              <a:defRPr sz="1100" b="0">
                <a:solidFill>
                  <a:srgbClr val="555B66"/>
                </a:solidFill>
              </a:defRPr>
            </a:pPr>
            <a:r>
              <a:t>raw_w = signal · M3_size · budget → 25%/name cap → 100% gross → 12% vol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4206240"/>
            <a:ext cx="5349240" cy="868680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27939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B2A4A"/>
                </a:solidFill>
              </a:defRPr>
            </a:pPr>
            <a:r>
              <a:t>BACKTEST</a:t>
            </a:r>
          </a:p>
          <a:p>
            <a:pPr>
              <a:spcAft>
                <a:spcPts val="0"/>
              </a:spcAft>
              <a:defRPr sz="1100" b="0">
                <a:solidFill>
                  <a:srgbClr val="555B66"/>
                </a:solidFill>
              </a:defRPr>
            </a:pPr>
            <a:r>
              <a:t>weekly returns · turnover · 5 bps cost · vs EW 1/7 and 60/40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57800"/>
            <a:ext cx="11091672" cy="65836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03520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1F6FB2"/>
                </a:solidFill>
              </a:defRPr>
            </a:pPr>
            <a:r>
              <a:t>In one line:  M1 sets recall (finds moves) · M2 sets precision (which pay) · M3 sets exposure (how much). M3 is the only stage that is a fixed function, not a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DELIVERABLE 1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Each layer: what it trains on, what it infers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0879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198"/>
                <a:gridCol w="2727198"/>
                <a:gridCol w="2727198"/>
                <a:gridCol w="2727198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Trains on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Infers (inference)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M1 · 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Nothing — fixed economic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Weekly cross-sectional score, take top-3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signal ∈ {0, +1}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M2 ·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Only M1≠0 weeks; label = did the trade 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P(this M1 trade beats the cost hurdle)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p_success ∈ (0,1)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M3 ·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Not trained (deterministic rule)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Map p_success → bet fraction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M3_size ∈ [0,1]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Caps, gross limit, volatility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final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685032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55B66"/>
                </a:solidFill>
              </a:defRPr>
            </a:pPr>
            <a:r>
              <a:t>Key point for the reviewer: M1 and M3 involve no fitting. Only M2 is a trained classifier — and it is trained exclusively on the trades M1 proposed, which is what makes this meta-labeling rather than a second directional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CONCEPTUAL CLARITY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Meta-labeling, precisely — M2 judges M1's trade, it does not trade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Which observations enter M2's training sample? Only asset-weeks where M1_signal ≠ 0 — the trades M1 actually proposed. M2 never sees flat weeks.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How is the meta-label built? meta_label = 1 if sign(M1) · (forward 4-week return) &gt; cost hurdle, else 0. It is a binary 'did this trade pay?', NOT a −1/+1 direction.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Why a 4-week horizon and ±0.5% threshold? Four weeks matches the weekly-rebalance holding period; the ±0.5% band plus a 0.1% cost hurdle embeds a minimal edge above noise and frictions.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Which features enter M2, and why? 52 features — momentum/trend/vol, cross-asset dispersion, macro regime, M1 context. Economically they answer: when does a momentum trade fail? (stress, crowding, adverse regime).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How is the probability calibrated and validated? Sigmoid-calibrated; evaluated on the out-of-sample window only via AUC, calibration curve, and decile hit-rates.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91672" cy="6035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05856"/>
            <a:ext cx="10698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6FB2"/>
                </a:solidFill>
              </a:defRPr>
            </a:pPr>
            <a:r>
              <a:t>Takeaway:  M2 estimates the probability an M1 candidate succeeds under a defined outcome, horizon and cost — it is a quality filter, not a new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META-LABELING ·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M2, read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0879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Test AUC-ROC (full sample)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Weak but common for noisy financial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Mean AUC across walk-forward folds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≈ 0.49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At/below random out-of-sample — the real test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Recall @ threshold 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Approves almost every trade → thin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Mean P(winners) vs P(losers)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0.577 vs 0.574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Barely separates winners from losers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Base rate (M1 trades that pay)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60.8%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The unconditional benchmark M2 must beat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6907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55B66"/>
                </a:solidFill>
              </a:defRPr>
            </a:pPr>
            <a:r>
              <a:t>Honest read: as currently wired, M2's value is a SOFT input to M3 sizing, not a hard filter. Slide 12 shows this improves once macro is removed from M1 so M2 carries information M1 does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M3 ·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M3 — three rules map probability to a bet fraction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Binary:  f = 1[p ≥ T].  All-or-nothing at T = 0.55. Because recall ≈ 1, it approves nearly everything, so it behaves like M1-only.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Linear:  f = max(0, 2p − 1).  Very defensive — high Sharpe but starves return. A drawdown tool, not a return engine.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ECDF (production):  f = rank of p in the training distribution. Best risk-adjusted of the three in-sample.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The critical caveat: the three rules differ mostly in HOW MUCH they deploy — not in which name is picked (M1 already picked). So a lower drawdown may be mechanical, not skill. Deliverable 4 tests exactly this.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91672" cy="6035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05856"/>
            <a:ext cx="10698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6FB2"/>
                </a:solidFill>
              </a:defRPr>
            </a:pPr>
            <a:r>
              <a:t>Takeaway:  M1 = opportunity selector · M2 = trade-quality probability · M3 = capital deployment · Portfolio = risk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DELIVERABLE 2 · WORKED EXAMPLE (SP500, ONE WEEK)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One asset, every stage, to a final weight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08792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198"/>
                <a:gridCol w="2727198"/>
                <a:gridCol w="2727198"/>
                <a:gridCol w="2727198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Formula (from code)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mom / trend / macro /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0.80 / 0.50 / 0.30 / 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z-scored, no look-ahead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M1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M1_score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6FB2"/>
                          </a:solidFill>
                        </a:defRPr>
                      </a:pPr>
                      <a:r>
                        <a:t>0.505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0.45·.80 + 0.25·.50 + 0.20·.30 − 0.10·.40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M1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rank 2 of 7 → top-3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allocation_mode top_k, k=3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p_success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6FB2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calibrated logistic, 52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M3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binary / linear / ECDF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1.00 / 0.16 / 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1[p≥.55] / max(0,2p−1) / ECDF(p)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Raw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raw_w (ECDF)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0.0886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1 × 0.62 × (1/7 budget)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Vol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scale to 12% ann.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× 1.36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0.12 / 0.088 realized vol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Final weight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SP500 book weight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B7801E"/>
                          </a:solidFill>
                        </a:defRPr>
                      </a:pPr>
                      <a:r>
                        <a:t>≈ 12.0%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0.0886 × 1.36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221223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55B66"/>
                </a:solidFill>
              </a:defRPr>
            </a:pPr>
            <a:r>
              <a:t>Illustrative feature inputs; every transform is the exact production formula. For the SAME p_success, the three M3 rules give ~19% / ~3% / ~12% — they differ in deployment, not in which name was chosen.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DELIVERABLE 3 · EXPERIMENTAL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A broad, staged search — not a fishing trip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0879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37490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Axis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Levels to test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A · M1 factor weights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merge mom+trend → technical; sweep technical/macro/risk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45/25/20/10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B · Selection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top-K ∈ {2,3,4} · threshold · min_score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top-3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C · Asset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equal · score · inverse-vol · risk-parity · min-var · mean-var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1/7 equal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D · M3 sizing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binary(T-grid) · linear · ECDF · power · sigmoid · frac-Kelly · μ/σ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ECDF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E · Conditioning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global · per-asset · regime (HMM state)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F · Cost-awareness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none · turnover-penalized · no-trade band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G · Covariance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diagonal · Ledoit-Wolf shrinkage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diagonal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H · Exposure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raw · gross-matched · vol-matched · constant-haircut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→ D4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1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I ·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full-sample · 6-fold walk-forward · crisis periods · Deflated Sharpe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walk-fwd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513831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55B66"/>
                </a:solidFill>
              </a:defRPr>
            </a:pPr>
            <a:r>
              <a:t>Protocol: sweep one axis at a time, rank on WALK-FORWARD mean Sharpe, report every candidate with its Deflated Sharpe Ratio, then combine only walk-forward-positive winners. Axes A and (macro) are already run — next two slides.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DELIVERABLE 4 · EXPOSURE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Genuine value vs mechanical risk reduction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0879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198"/>
                <a:gridCol w="2727198"/>
                <a:gridCol w="2727198"/>
                <a:gridCol w="2727198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M1-only Sharpe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ECDF edge vs M1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IR vs equal-weight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2015–16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−0.13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C03A2B"/>
                          </a:solidFill>
                        </a:defRPr>
                      </a:pPr>
                      <a:r>
                        <a:t>−0.38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−0.53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2017–18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C03A2B"/>
                          </a:solidFill>
                        </a:defRPr>
                      </a:pPr>
                      <a:r>
                        <a:t>−0.70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−0.58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2019–20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C03A2B"/>
                          </a:solidFill>
                        </a:defRPr>
                      </a:pPr>
                      <a:r>
                        <a:t>−0.14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−0.98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2021–22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−0.06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8E5A"/>
                          </a:solidFill>
                        </a:defRPr>
                      </a:pPr>
                      <a:r>
                        <a:t>+0.92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8E5A"/>
                          </a:solidFill>
                        </a:defRPr>
                      </a:pPr>
                      <a:r>
                        <a:t>+0.55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2023–24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C03A2B"/>
                          </a:solidFill>
                        </a:defRPr>
                      </a:pPr>
                      <a:r>
                        <a:t>−0.46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−1.14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2025–26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C03A2B"/>
                          </a:solidFill>
                        </a:defRPr>
                      </a:pPr>
                      <a:r>
                        <a:t>−0.38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−1.08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C03A2B"/>
                          </a:solidFill>
                        </a:defRPr>
                      </a:pPr>
                      <a:r>
                        <a:t>−0.19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−0.63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37175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55B66"/>
                </a:solidFill>
              </a:defRPr>
            </a:pPr>
            <a:r>
              <a:t>ECDF beats M1-only in 1 of 6 folds; its lower drawdown coincides with ~52% gross vs EW's 100% — consistent with mechanical de-risking. The decisive tests: ① constant-haircut control, ② vol-matched comparison, ③ Spearman(M3_size, realized PnL). If ③ ≈ 0, M3 does not distinguish strong from weak trades.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BROADER EXPERIMENTATION · AXIS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Result 1 — M1 factor weights were never tuned. We swept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0879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M1 weights (mom/trend/macro/risk)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Walk-fwd Sharpe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Folds positive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risk_heavy   0.40/0.22/0.18/0.20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8E5A"/>
                          </a:solidFill>
                        </a:defRPr>
                      </a:pPr>
                      <a:r>
                        <a:t>0.811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8E5A"/>
                          </a:solidFill>
                        </a:defRPr>
                      </a:pPr>
                      <a:r>
                        <a:t>6 / 6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baseline     0.45/0.25/0.20/0.10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4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no_macro     0.56/0.31/0.00/0.13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4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technical    0.35/0.35/0.20/0.10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4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trend_only   0.00/0.70/0.20/0.10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5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momentum_only 0.70/0.00/0.20/0.10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4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453127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55B66"/>
                </a:solidFill>
              </a:defRPr>
            </a:pPr>
            <a:r>
              <a:t>Two findings. (1) Doubling the downside/risk-penalty weight lifts Sharpe 0.709 → 0.811 and is positive in ALL SIX folds — the most robust improvement found. (2) Momentum &amp; trend are 0.78 correlated, yet either ALONE (~0.50) is far worse than both together (0.71): correlated is not redundant — the ensemble beats the parts.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BROADER EXPERIMENTATION · MACRO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Result 2 — Is macro the lever? Two controlled tests.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0879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Setup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Macro in 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Hold sample fixed, vary which macro feeds 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C03A2B"/>
                          </a:solidFill>
                        </a:defRPr>
                      </a:pPr>
                      <a:r>
                        <a:t>Best set beats macro-OFF by only +0.013 Sharpe (t≈0.19) —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Rates/credit in 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curve + credit signals into M1's tilt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C03A2B"/>
                          </a:solidFill>
                        </a:defRPr>
                      </a:pPr>
                      <a:r>
                        <a:t>Actively hurts: 0.668 vs 0.701 with macro 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Macro in M2 (M1 clean)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Strip macro from M1, put it only in M2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8E5A"/>
                          </a:solidFill>
                        </a:defRPr>
                      </a:pPr>
                      <a:r>
                        <a:t>Two sets flip POSITIVE — drop-CPI edge +0.067, AUC 0.525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B2A4A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B66"/>
                          </a:solidFill>
                        </a:defRPr>
                      </a:pPr>
                      <a:r>
                        <a:t>M2 macro = all series except CPI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8E5A"/>
                          </a:solidFill>
                        </a:defRPr>
                      </a:pPr>
                      <a:r>
                        <a:t>ECDF ≈ 0.745 &gt; original M1-only 0.709 — meta-labeling finally adds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685032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55B66"/>
                </a:solidFill>
              </a:defRPr>
            </a:pPr>
            <a:r>
              <a:t>Read: macro is NOT a lever for M1's selection (momentum/trend/VIX carry it). But once M1 is a clean technical model, the RIGHT macro set in M2 (drop backward-looking CPI) turns the meta-label positive — the textbook separation working. Caveat: edges are small and only 2/6 folds positive; Deflated-Sharpe and exposure-matching still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One authoritative, reproducible set of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Every reported number traces to a specific config, data window, git SHA and timestamped run directory.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The baseline walk-forward was reproduced bit-for-bit: same six folds, same −0.19 ECDF edge — the environment is trustworthy.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A contradiction was found and flagged: an older report claimed an ECDF edge of +0.177 across 4-of-6 folds; that was an ETF-era artifact. The true index-era value is −0.19 across 1-of-6.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All experiments here use one canonical config with only the tested axis changed — so any difference is attributable to that axis, not a shifted sample.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91672" cy="6035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05856"/>
            <a:ext cx="10698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6FB2"/>
                </a:solidFill>
              </a:defRPr>
            </a:pPr>
            <a:r>
              <a:t>Takeaway:  No number without a run behind it. Reconciling every report to the reproduced index-era run is the deliverable.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WHERE THIS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0B2A4A"/>
                </a:solidFill>
              </a:defRPr>
            </a:pPr>
            <a:r>
              <a:t>Honest verdict and next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What holds up: M1-only is the robust core (≈ EW return, ~half the drawdown, higher Sharpe); and raising the risk-penalty weight (Axis A) is a real, fold-consistent improvement to 0.811 Sharpe.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What is still unproven: M2/M3 meta-labeling does not beat M1-only out-of-sample in most folds, and ECDF's drawdown edge may be mechanical until the exposure-matched tests confirm otherwise.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Most promising thread: a clean meta-labeling separation (technical M1 + macro-in-M2 excluding CPI) is the first configuration where the meta-label adds value — worth deepening.</a:t>
            </a:r>
          </a:p>
          <a:p>
            <a:pPr>
              <a:spcAft>
                <a:spcPts val="500"/>
              </a:spcAft>
              <a:defRPr sz="1600" b="1">
                <a:solidFill>
                  <a:srgbClr val="0B2A4A"/>
                </a:solidFill>
              </a:defRPr>
            </a:pPr>
            <a:r>
              <a:t>■  Next: (1) exposure-matched M3 comparison, (2) regime-conditioned M3, (3) deepen the technical-M1 + macro-M2 design, (4) broaden the asset-allocation axis.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91672" cy="6035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05856"/>
            <a:ext cx="10698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0B2A4A"/>
                </a:solidFill>
              </a:defRPr>
            </a:pPr>
            <a:r>
              <a:t>Takeaway:  A rigorous baseline that names its own weaknesses — and defines the exact tests that will resolve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Summer 2026 · Meta-Labeling Pipeline · Deliverables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