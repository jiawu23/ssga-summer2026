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PART 2 - M1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2A4A"/>
                </a:solidFill>
              </a:defRPr>
            </a:pPr>
            <a:r>
              <a:t>Momentum Windows: Variability and Why 12 / 26 / 52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6446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55B66"/>
                </a:solidFill>
              </a:defRPr>
            </a:pPr>
            <a:r>
              <a:t>Formula: momentum_N = price_today / price_N_weeks_ago - 1, then z-scored cross-sectionally across sleeves.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56432" cy="22402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57400"/>
            <a:ext cx="3090672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F6FB2"/>
                </a:solidFill>
              </a:defRPr>
            </a:pPr>
            <a:r>
              <a:t>12 WEEKS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0B2A4A"/>
                </a:solidFill>
              </a:defRPr>
            </a:pPr>
            <a:r>
              <a:t>Recent pulse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Most reactive week to week; lowest raw accumulated spread.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Catches earnings surprises, CPI/Fed repricing, sudden risk-on/off moves.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Useful when the market has just changed its mind.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56432" cy="22402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090672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B7801E"/>
                </a:solidFill>
              </a:defRPr>
            </a:pPr>
            <a:r>
              <a:t>26 WEEKS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0B2A4A"/>
                </a:solidFill>
              </a:defRPr>
            </a:pPr>
            <a:r>
              <a:t>Regime bridge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Middle variability; filters one noisy quarter without becoming stale.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Spans half a year: rate-cycle shifts, credit tightening, summer/winter demand.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Balances timeliness with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20240"/>
            <a:ext cx="3456432" cy="2240280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2057400"/>
            <a:ext cx="3090672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E8E5A"/>
                </a:solidFill>
              </a:defRPr>
            </a:pPr>
            <a:r>
              <a:t>52 WEEKS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500" b="1">
                <a:solidFill>
                  <a:srgbClr val="0B2A4A"/>
                </a:solidFill>
              </a:defRPr>
            </a:pPr>
            <a:r>
              <a:t>Full-year trend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Highest raw dispersion because a year compounds more shocks.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Covers four earnings seasons, holiday retail, winter energy, tax/year-end flows.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- Helps avoid mistaking a seasonal burst for a durable winner.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5440680" cy="1042415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562856"/>
            <a:ext cx="5074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2A4A"/>
                </a:solidFill>
              </a:defRPr>
            </a:pPr>
            <a:r>
              <a:t>Which is more variable?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818888"/>
            <a:ext cx="50749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55B66"/>
                </a:solidFill>
              </a:defRPr>
            </a:pPr>
            <a:r>
              <a:t>For raw N-week momentum, 52w &gt; 26w &gt; 12w in total variation: longer windows accumulate more return shocks and let winners/losers separate further. But 12w is the most reactive.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480560"/>
            <a:ext cx="5202936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599432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B2A4A"/>
                </a:solidFill>
              </a:defRPr>
            </a:pPr>
            <a:r>
              <a:t>Raw momentum dispersion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9194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12w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4946904"/>
            <a:ext cx="735980" cy="1005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51755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26w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202936"/>
            <a:ext cx="1067171" cy="100584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5431536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52w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5458968"/>
            <a:ext cx="1508760" cy="1005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4599432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B2A4A"/>
                </a:solidFill>
              </a:defRPr>
            </a:pPr>
            <a:r>
              <a:t>Week-to-week reactivity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9194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12w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90888" y="4946904"/>
            <a:ext cx="1508760" cy="10058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5175504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26w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90888" y="5202936"/>
            <a:ext cx="1067171" cy="100584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5431536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555B66"/>
                </a:solidFill>
              </a:defRPr>
            </a:pPr>
            <a:r>
              <a:t>52w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90888" y="5458968"/>
            <a:ext cx="735980" cy="10058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742432"/>
            <a:ext cx="11091672" cy="53035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788152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1F6FB2"/>
                </a:solidFill>
              </a:defRPr>
            </a:pPr>
            <a:r>
              <a:t>Takeaway: use all three because they answer different questions - what changed recently, what persisted for half a year, and what survived a full seasonal cycle.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Field Project - 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